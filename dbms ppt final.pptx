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4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296" r:id="rId14"/>
    <p:sldId id="299" r:id="rId15"/>
    <p:sldId id="29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BC48E-A5F3-2CAF-1516-3A3DC89B54A0}" v="3" dt="2026-10-04T09:21:07.672"/>
    <p1510:client id="{F98BD79D-E735-7E4A-8C0C-F1046CBF7A2D}" v="2" dt="2026-10-04T09:26:14.8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1429-3619-4831-F6CE-450D7B055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10972-05F7-18EA-0EEA-8B8CC4C91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AB7A1-17BB-7C72-D5F8-87B49910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1457E-FEB8-89D1-55F6-DB5B90ACD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DC2AE-6E7C-56EC-1B7C-67779FF9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96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FC33-0644-A602-BA8A-9B7F113C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7B364-E2E3-D4A0-0FFD-CE6312D66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21024-0D64-1BEB-D1AE-CE078E83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25514-86DC-0107-8D27-8845251C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943F2-2408-EDA1-51D3-806DACD9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12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25B0-4C2E-E4B0-2B36-EA53966E9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5FFD8-D753-D4B1-F02E-9A9EB82D6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E66E7-BA9E-287A-1B12-084EC07A9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EE69-6988-1E2B-8AF2-D3240605E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1799D-8F58-2A38-592D-3A2448A4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650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3A0D-BB9A-6CA5-E8ED-C1F1967D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0E1B6-4A21-05D2-694F-7807E70FB1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2FA94-8056-C670-6202-D16CB0AB3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BDECA-94DE-D89D-29B7-EE52870A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A45BC-1081-718A-4023-3162AFB7F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12473-1D97-6D98-A9DE-8609F9CA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96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DE01-20B7-D059-A7B5-F5E59A6FF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EDCE4-23F8-72EA-EFF2-52171EAED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FC6D3-3B24-49D5-ECFC-86021D8DC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3B467-A5B6-6F8C-E451-4A7852601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25F6A-881C-D367-0FC5-CAD3E4A62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A6CA6-0DCA-8A7D-CCD3-9896F42D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2E6E3-55FA-708A-18D3-080E0570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B83CA4-BC14-DFD9-F872-4F1D8797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849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139AD-60D2-9CBB-DBC9-160D4D9F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23BAA-BE51-8290-EF9B-D40190CF1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12D0E-C0EF-D786-CEAA-7C56542E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85D22-A3E1-2EA1-9A10-4A503E811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86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356E7E-E052-C2C7-16D4-0FE42685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82666A-757D-A304-078B-26D5DEEA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54197-E045-D652-8AA2-054992AF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799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169D7-BA8D-700C-C526-4252DD4C6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D7BDE-0520-9645-8120-67888EB3A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F10E8-77D7-67ED-D320-DB46445F4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161F2-0AC5-79DE-36CD-05A557549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449AF-7CBD-7927-E948-B47599BA8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354EC-2F4D-7E23-0C99-D70D1B8C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71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F52B-7120-7FA4-F5E7-9298B282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DB437-8D41-FCC3-3709-8AE1401AD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6D91-8884-8268-D1A2-2B06F8B70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27D2A-5C29-DA8D-9415-12A8B6512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1FAF3-EFB7-4804-F16F-0718E3E0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C38E3-7772-0372-9374-09C1FC9FB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509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2419-D976-1735-B679-E283E819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E8CD9-E233-DCCE-96FE-79B1597F7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864FA-81F0-D836-9F3F-2BB31010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A3D10-D0D2-7C81-3FDC-6B123EF30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2CA70-87BB-BBC1-B2ED-5CE81620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79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2EFBFE-88C3-144F-CE3B-FA749DA93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819AD-F601-0D9E-EBAF-F1012B706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8A4F0-DC8F-81BF-8521-D6F49181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95D5B-D85A-CAD6-D154-6142A402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DAA47-3DF1-8E66-CD15-E90BFFF67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856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705486"/>
            <a:ext cx="10363200" cy="2811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3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38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21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400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81DC7-2595-38C3-99C4-91F8548B6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784B2-1AC7-525C-E4B2-FEF335522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65E9A-DDBC-B1EA-183D-E1DFEA80A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FD5B8-DD6C-43B7-BB6A-9C1B37040C48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2B1B6-A821-3905-0734-6EC328F21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5EE30-30E8-C3DB-6EF3-9E1B9A4C1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4D680-A573-4418-8805-D3633827A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90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ardhivasai-23/University-library-management-syste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5502" y="186218"/>
            <a:ext cx="4068450" cy="5546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5198" y="1056343"/>
            <a:ext cx="6589058" cy="893502"/>
          </a:xfrm>
          <a:prstGeom prst="rect">
            <a:avLst/>
          </a:prstGeom>
        </p:spPr>
        <p:txBody>
          <a:bodyPr vert="horz" wrap="square" lIns="0" tIns="10085" rIns="0" bIns="0" rtlCol="0" anchor="ctr">
            <a:spAutoFit/>
          </a:bodyPr>
          <a:lstStyle/>
          <a:p>
            <a:pPr marL="11206" algn="ctr">
              <a:lnSpc>
                <a:spcPct val="150000"/>
              </a:lnSpc>
              <a:spcBef>
                <a:spcPts val="79"/>
              </a:spcBef>
            </a:pPr>
            <a:r>
              <a:rPr lang="en-IN" sz="2118" spc="-9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1941" spc="-9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41" spc="-9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1941" spc="-9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235083" y="2218765"/>
            <a:ext cx="7721834" cy="3303303"/>
          </a:xfrm>
          <a:prstGeom prst="rect">
            <a:avLst/>
          </a:prstGeom>
        </p:spPr>
        <p:txBody>
          <a:bodyPr vert="horz" wrap="square" lIns="0" tIns="14568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lang="en-US" sz="2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Academic Management System</a:t>
            </a:r>
            <a:endParaRPr lang="en-IN" sz="21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194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941" spc="7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41" spc="-22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1941" spc="-22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15"/>
              </a:spcBef>
            </a:pPr>
            <a:endParaRPr lang="en-IN" sz="794" spc="-22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lang="en-IN" sz="1765" spc="-9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(25B11AI946)</a:t>
            </a:r>
          </a:p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lang="en-IN" sz="1765" spc="-9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(25B11AI346)</a:t>
            </a:r>
          </a:p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lang="en-IN" sz="1765" spc="-9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(25B11AI524)</a:t>
            </a:r>
          </a:p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lang="en-IN" sz="1765" spc="-9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(25B11AI717)</a:t>
            </a:r>
          </a:p>
          <a:p>
            <a:pPr marL="3362" algn="ctr">
              <a:lnSpc>
                <a:spcPct val="100000"/>
              </a:lnSpc>
              <a:spcBef>
                <a:spcPts val="662"/>
              </a:spcBef>
            </a:pPr>
            <a:endParaRPr lang="en-IN" sz="1456" spc="-9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2" algn="ctr">
              <a:lnSpc>
                <a:spcPct val="100000"/>
              </a:lnSpc>
              <a:spcBef>
                <a:spcPts val="662"/>
              </a:spcBef>
            </a:pPr>
            <a:endParaRPr lang="en-IN" sz="1456" spc="-9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21" algn="ctr">
              <a:lnSpc>
                <a:spcPct val="100000"/>
              </a:lnSpc>
              <a:spcBef>
                <a:spcPts val="877"/>
              </a:spcBef>
            </a:pPr>
            <a:r>
              <a:rPr sz="1941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1941" spc="-53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41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941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941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1941" spc="-9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21" algn="ctr">
              <a:lnSpc>
                <a:spcPct val="100000"/>
              </a:lnSpc>
              <a:spcBef>
                <a:spcPts val="877"/>
              </a:spcBef>
            </a:pPr>
            <a:endParaRPr lang="en-IN" sz="1456" spc="-9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76118" y="1321670"/>
            <a:ext cx="3617647" cy="4346665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344039" indent="-332832">
              <a:spcBef>
                <a:spcPts val="115"/>
              </a:spcBef>
              <a:buFont typeface="Cambria"/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158471" y="1321671"/>
            <a:ext cx="3617647" cy="3300995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344039" indent="-332832">
              <a:spcBef>
                <a:spcPts val="115"/>
              </a:spcBef>
              <a:buFont typeface="Cambria"/>
              <a:buAutoNum type="arabicPeriod" startAt="9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44039" indent="-332832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IN" sz="1765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3810000" y="29709"/>
            <a:ext cx="4706471" cy="1057333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4838950" y="252434"/>
            <a:ext cx="2517962" cy="313382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1206" algn="ctr">
              <a:spcBef>
                <a:spcPts val="115"/>
              </a:spcBef>
            </a:pPr>
            <a:r>
              <a:rPr lang="en-IN" sz="194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4011706" y="75008"/>
            <a:ext cx="4503445" cy="1057333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5148134" y="304321"/>
            <a:ext cx="4437529" cy="3571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700" b="1">
                <a:solidFill>
                  <a:schemeClr val="bg1"/>
                </a:solidFill>
                <a:latin typeface="Times New Roman"/>
                <a:cs typeface="Times New Roman"/>
              </a:rPr>
              <a:t>          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1091381" y="890783"/>
            <a:ext cx="10373031" cy="563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18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University Academic Management System</a:t>
            </a:r>
          </a:p>
          <a:p>
            <a:endParaRPr lang="en-US" sz="2118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18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Managing academic data manually can cause duplicate and inconsistent records.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attendance, marks, and examinations is time-consuming.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Preparing results and reports can be difficult.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database is needed to manage academic information efficiently.</a:t>
            </a:r>
          </a:p>
          <a:p>
            <a:endParaRPr lang="en-US" sz="2118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18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1. To develop a centralized database for university academic information.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2. To maintain student and faculty records in an organized manner.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3. To manage departments, courses, subjects, and semesters efficiently.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4. To record and manage enrollment, attendance, marks, and examinations.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5. To generate accurate results and academic reports quickly.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6. To reduce duplicate data and improve data accuracy.</a:t>
            </a:r>
          </a:p>
          <a:p>
            <a:r>
              <a:rPr lang="en-US" sz="2118">
                <a:latin typeface="Times New Roman" panose="02020603050405020304" pitchFamily="18" charset="0"/>
                <a:cs typeface="Times New Roman" panose="02020603050405020304" pitchFamily="18" charset="0"/>
              </a:rPr>
              <a:t>7. To provide secure and controlled access to academic information.</a:t>
            </a:r>
            <a:endParaRPr lang="en-IN" sz="211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2B114-13D4-2CF9-6C7A-1F07B0164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2C63EE31-CA46-609F-86D4-878E954CA5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222" y="453966"/>
            <a:ext cx="1163002" cy="424338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CF266E5F-BD86-0916-336A-E060324C9C38}"/>
              </a:ext>
            </a:extLst>
          </p:cNvPr>
          <p:cNvSpPr/>
          <p:nvPr/>
        </p:nvSpPr>
        <p:spPr>
          <a:xfrm>
            <a:off x="3755386" y="451585"/>
            <a:ext cx="4681227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 anchor="t"/>
          <a:lstStyle>
            <a:defPPr>
              <a:defRPr kern="0"/>
            </a:defPPr>
          </a:lstStyle>
          <a:p>
            <a:r>
              <a:rPr lang="en-IN" b="1">
                <a:solidFill>
                  <a:schemeClr val="bg1"/>
                </a:solidFill>
                <a:latin typeface="Times New Roman"/>
                <a:cs typeface="Times New Roman"/>
              </a:rPr>
              <a:t>                ENTITY ATTRIBUTES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F2BBF5-903F-9A79-823B-A4A1D0F9EF8D}"/>
              </a:ext>
            </a:extLst>
          </p:cNvPr>
          <p:cNvSpPr txBox="1"/>
          <p:nvPr/>
        </p:nvSpPr>
        <p:spPr>
          <a:xfrm>
            <a:off x="983226" y="1022555"/>
            <a:ext cx="361634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1.Student</a:t>
            </a:r>
          </a:p>
          <a:p>
            <a:r>
              <a:rPr lang="en-IN"/>
              <a:t>Student_ID (PK)</a:t>
            </a:r>
          </a:p>
          <a:p>
            <a:r>
              <a:rPr lang="en-IN" err="1"/>
              <a:t>Student_Name</a:t>
            </a:r>
            <a:endParaRPr lang="en-IN"/>
          </a:p>
          <a:p>
            <a:r>
              <a:rPr lang="en-IN" err="1"/>
              <a:t>Date_of_Birth</a:t>
            </a:r>
            <a:endParaRPr lang="en-IN"/>
          </a:p>
          <a:p>
            <a:r>
              <a:rPr lang="en-IN"/>
              <a:t>Gender</a:t>
            </a:r>
          </a:p>
          <a:p>
            <a:r>
              <a:rPr lang="en-IN"/>
              <a:t>Email</a:t>
            </a:r>
          </a:p>
          <a:p>
            <a:r>
              <a:rPr lang="en-IN"/>
              <a:t>Phone</a:t>
            </a:r>
          </a:p>
          <a:p>
            <a:r>
              <a:rPr lang="en-IN"/>
              <a:t>Address</a:t>
            </a:r>
          </a:p>
          <a:p>
            <a:r>
              <a:rPr lang="en-IN" err="1"/>
              <a:t>Course_ID</a:t>
            </a:r>
            <a:r>
              <a:rPr lang="en-IN"/>
              <a:t> (FK)</a:t>
            </a:r>
          </a:p>
          <a:p>
            <a:r>
              <a:rPr lang="en-IN" b="1"/>
              <a:t>2. Faculty</a:t>
            </a:r>
          </a:p>
          <a:p>
            <a:r>
              <a:rPr lang="en-IN" err="1"/>
              <a:t>Faculty_ID</a:t>
            </a:r>
            <a:r>
              <a:rPr lang="en-IN"/>
              <a:t> (PK)</a:t>
            </a:r>
          </a:p>
          <a:p>
            <a:r>
              <a:rPr lang="en-IN" err="1"/>
              <a:t>Faculty_Name</a:t>
            </a:r>
            <a:endParaRPr lang="en-IN"/>
          </a:p>
          <a:p>
            <a:r>
              <a:rPr lang="en-IN"/>
              <a:t>Email</a:t>
            </a:r>
          </a:p>
          <a:p>
            <a:r>
              <a:rPr lang="en-IN"/>
              <a:t>Phone</a:t>
            </a:r>
          </a:p>
          <a:p>
            <a:r>
              <a:rPr lang="en-IN"/>
              <a:t>Designation</a:t>
            </a:r>
          </a:p>
          <a:p>
            <a:r>
              <a:rPr lang="en-IN" err="1"/>
              <a:t>Department_ID</a:t>
            </a:r>
            <a:r>
              <a:rPr lang="en-IN"/>
              <a:t> (FK)</a:t>
            </a:r>
          </a:p>
          <a:p>
            <a:r>
              <a:rPr lang="en-IN" b="1"/>
              <a:t>3. Department</a:t>
            </a:r>
          </a:p>
          <a:p>
            <a:r>
              <a:rPr lang="en-IN" err="1"/>
              <a:t>Department_ID</a:t>
            </a:r>
            <a:r>
              <a:rPr lang="en-IN"/>
              <a:t> (PK)</a:t>
            </a:r>
          </a:p>
          <a:p>
            <a:r>
              <a:rPr lang="en-IN" err="1"/>
              <a:t>Department_Name</a:t>
            </a:r>
            <a:endParaRPr lang="en-IN"/>
          </a:p>
          <a:p>
            <a:r>
              <a:rPr lang="en-IN" err="1"/>
              <a:t>HOD_Name</a:t>
            </a:r>
            <a:endParaRPr lang="en-IN"/>
          </a:p>
          <a:p>
            <a:r>
              <a:rPr lang="en-IN" err="1"/>
              <a:t>Office_Location</a:t>
            </a:r>
            <a:endParaRPr lang="en-IN"/>
          </a:p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986C8-D69B-60CF-30A0-A10904A01A48}"/>
              </a:ext>
            </a:extLst>
          </p:cNvPr>
          <p:cNvSpPr txBox="1"/>
          <p:nvPr/>
        </p:nvSpPr>
        <p:spPr>
          <a:xfrm>
            <a:off x="4599569" y="1101213"/>
            <a:ext cx="329241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4. Course</a:t>
            </a:r>
          </a:p>
          <a:p>
            <a:r>
              <a:rPr lang="en-IN" err="1"/>
              <a:t>Course_ID</a:t>
            </a:r>
            <a:r>
              <a:rPr lang="en-IN"/>
              <a:t> (PK)</a:t>
            </a:r>
          </a:p>
          <a:p>
            <a:r>
              <a:rPr lang="en-IN" err="1"/>
              <a:t>Course_Name</a:t>
            </a:r>
            <a:endParaRPr lang="en-IN"/>
          </a:p>
          <a:p>
            <a:r>
              <a:rPr lang="en-IN"/>
              <a:t>Duration</a:t>
            </a:r>
          </a:p>
          <a:p>
            <a:r>
              <a:rPr lang="en-IN" err="1"/>
              <a:t>Department_ID</a:t>
            </a:r>
            <a:r>
              <a:rPr lang="en-IN"/>
              <a:t> (FK)</a:t>
            </a:r>
          </a:p>
          <a:p>
            <a:r>
              <a:rPr lang="en-IN" b="1"/>
              <a:t>5. Subject</a:t>
            </a:r>
          </a:p>
          <a:p>
            <a:r>
              <a:rPr lang="en-IN" err="1"/>
              <a:t>Subject_ID</a:t>
            </a:r>
            <a:r>
              <a:rPr lang="en-IN"/>
              <a:t> (PK)</a:t>
            </a:r>
          </a:p>
          <a:p>
            <a:r>
              <a:rPr lang="en-IN" err="1"/>
              <a:t>Subject_Name</a:t>
            </a:r>
            <a:endParaRPr lang="en-IN"/>
          </a:p>
          <a:p>
            <a:r>
              <a:rPr lang="en-IN"/>
              <a:t>Credits</a:t>
            </a:r>
          </a:p>
          <a:p>
            <a:r>
              <a:rPr lang="en-IN"/>
              <a:t>Semester</a:t>
            </a:r>
          </a:p>
          <a:p>
            <a:r>
              <a:rPr lang="en-IN" err="1"/>
              <a:t>Course_ID</a:t>
            </a:r>
            <a:r>
              <a:rPr lang="en-IN"/>
              <a:t> (FK)</a:t>
            </a:r>
          </a:p>
          <a:p>
            <a:r>
              <a:rPr lang="en-IN" err="1"/>
              <a:t>Faculty_ID</a:t>
            </a:r>
            <a:r>
              <a:rPr lang="en-IN"/>
              <a:t> (FK)</a:t>
            </a:r>
          </a:p>
          <a:p>
            <a:r>
              <a:rPr lang="en-IN" b="1"/>
              <a:t>6. </a:t>
            </a:r>
            <a:r>
              <a:rPr lang="en-IN" b="1" err="1"/>
              <a:t>Enrollment</a:t>
            </a:r>
            <a:endParaRPr lang="en-IN" b="1"/>
          </a:p>
          <a:p>
            <a:r>
              <a:rPr lang="en-IN" err="1"/>
              <a:t>Enrollment_ID</a:t>
            </a:r>
            <a:r>
              <a:rPr lang="en-IN"/>
              <a:t> (PK)</a:t>
            </a:r>
          </a:p>
          <a:p>
            <a:r>
              <a:rPr lang="en-IN"/>
              <a:t>Student_ID (FK)</a:t>
            </a:r>
          </a:p>
          <a:p>
            <a:r>
              <a:rPr lang="en-IN" err="1"/>
              <a:t>Course_ID</a:t>
            </a:r>
            <a:r>
              <a:rPr lang="en-IN"/>
              <a:t> (FK)</a:t>
            </a:r>
          </a:p>
          <a:p>
            <a:r>
              <a:rPr lang="en-IN" err="1"/>
              <a:t>Enrollment_Date</a:t>
            </a:r>
            <a:endParaRPr lang="en-IN"/>
          </a:p>
          <a:p>
            <a:r>
              <a:rPr lang="en-IN" b="1"/>
              <a:t>7. Examination</a:t>
            </a:r>
          </a:p>
          <a:p>
            <a:r>
              <a:rPr lang="en-IN" err="1"/>
              <a:t>Exam_ID</a:t>
            </a:r>
            <a:r>
              <a:rPr lang="en-IN"/>
              <a:t> (PK)</a:t>
            </a:r>
          </a:p>
          <a:p>
            <a:r>
              <a:rPr lang="en-IN" err="1"/>
              <a:t>Subject_ID</a:t>
            </a:r>
            <a:r>
              <a:rPr lang="en-IN"/>
              <a:t> (FK)</a:t>
            </a:r>
          </a:p>
          <a:p>
            <a:r>
              <a:rPr lang="en-IN" err="1"/>
              <a:t>Exam_Type</a:t>
            </a:r>
            <a:endParaRPr lang="en-IN"/>
          </a:p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47F789-5456-5D51-94C1-805CD0960D25}"/>
              </a:ext>
            </a:extLst>
          </p:cNvPr>
          <p:cNvSpPr txBox="1"/>
          <p:nvPr/>
        </p:nvSpPr>
        <p:spPr>
          <a:xfrm>
            <a:off x="8318090" y="1140542"/>
            <a:ext cx="21116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err="1"/>
              <a:t>Exam_Date</a:t>
            </a:r>
            <a:endParaRPr lang="en-IN"/>
          </a:p>
          <a:p>
            <a:r>
              <a:rPr lang="en-IN" err="1"/>
              <a:t>Total_Marks</a:t>
            </a:r>
            <a:endParaRPr lang="en-IN"/>
          </a:p>
          <a:p>
            <a:r>
              <a:rPr lang="en-IN" b="1"/>
              <a:t>8. Attendance</a:t>
            </a:r>
          </a:p>
          <a:p>
            <a:r>
              <a:rPr lang="en-IN" err="1"/>
              <a:t>Attendance_ID</a:t>
            </a:r>
            <a:r>
              <a:rPr lang="en-IN"/>
              <a:t> (PK)</a:t>
            </a:r>
          </a:p>
          <a:p>
            <a:r>
              <a:rPr lang="en-IN"/>
              <a:t>Student_ID (FK)</a:t>
            </a:r>
          </a:p>
          <a:p>
            <a:r>
              <a:rPr lang="en-IN" err="1"/>
              <a:t>Subject_ID</a:t>
            </a:r>
            <a:r>
              <a:rPr lang="en-IN"/>
              <a:t> (FK)</a:t>
            </a:r>
          </a:p>
          <a:p>
            <a:r>
              <a:rPr lang="en-IN" err="1"/>
              <a:t>Attendance_Date</a:t>
            </a:r>
            <a:endParaRPr lang="en-IN"/>
          </a:p>
          <a:p>
            <a:r>
              <a:rPr lang="en-IN"/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89063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5551741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4011706" y="75008"/>
            <a:ext cx="4503445" cy="1057333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5356412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BB1DE97-BF6B-A989-E657-A8D03578AB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5" y="685742"/>
            <a:ext cx="10353040" cy="600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5551741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4011706" y="75008"/>
            <a:ext cx="4503445" cy="1057333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4213412" y="268941"/>
            <a:ext cx="4437529" cy="36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1765"/>
              <a:t> </a:t>
            </a:r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1765"/>
              <a:t> </a:t>
            </a:r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9C2FBA-EF7C-4F34-06D7-601349417B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281" y="5222241"/>
            <a:ext cx="2367280" cy="1153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97D27F-6376-2847-7A3F-CEEF7AA932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320" y="4267200"/>
            <a:ext cx="4739264" cy="21089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4BE578-8B0B-DBDD-9441-93C64ED298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014" y="792150"/>
            <a:ext cx="8752985" cy="606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5551741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4011706" y="75008"/>
            <a:ext cx="4503445" cy="1057333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4684059" y="283521"/>
            <a:ext cx="4437529" cy="36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1765"/>
              <a:t> </a:t>
            </a:r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1765"/>
              <a:t> </a:t>
            </a:r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1765"/>
              <a:t> </a:t>
            </a:r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42DED7C-E18D-54D5-FD87-51CBA9563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688807"/>
              </p:ext>
            </p:extLst>
          </p:nvPr>
        </p:nvGraphicFramePr>
        <p:xfrm>
          <a:off x="1465005" y="1494503"/>
          <a:ext cx="9566789" cy="513855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694564">
                  <a:extLst>
                    <a:ext uri="{9D8B030D-6E8A-4147-A177-3AD203B41FA5}">
                      <a16:colId xmlns:a16="http://schemas.microsoft.com/office/drawing/2014/main" val="3217832052"/>
                    </a:ext>
                  </a:extLst>
                </a:gridCol>
                <a:gridCol w="2694564">
                  <a:extLst>
                    <a:ext uri="{9D8B030D-6E8A-4147-A177-3AD203B41FA5}">
                      <a16:colId xmlns:a16="http://schemas.microsoft.com/office/drawing/2014/main" val="4008835532"/>
                    </a:ext>
                  </a:extLst>
                </a:gridCol>
                <a:gridCol w="4177661">
                  <a:extLst>
                    <a:ext uri="{9D8B030D-6E8A-4147-A177-3AD203B41FA5}">
                      <a16:colId xmlns:a16="http://schemas.microsoft.com/office/drawing/2014/main" val="1328810388"/>
                    </a:ext>
                  </a:extLst>
                </a:gridCol>
              </a:tblGrid>
              <a:tr h="515647">
                <a:tc>
                  <a:txBody>
                    <a:bodyPr/>
                    <a:lstStyle/>
                    <a:p>
                      <a:r>
                        <a:rPr lang="en-IN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FOREIGN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745800"/>
                  </a:ext>
                </a:extLst>
              </a:tr>
              <a:tr h="515647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>
                          <a:solidFill>
                            <a:schemeClr val="bg1"/>
                          </a:solidFill>
                        </a:rPr>
                        <a:t>Course_ID</a:t>
                      </a:r>
                      <a:r>
                        <a:rPr lang="en-IN">
                          <a:solidFill>
                            <a:schemeClr val="bg1"/>
                          </a:solidFill>
                        </a:rPr>
                        <a:t> → 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738606"/>
                  </a:ext>
                </a:extLst>
              </a:tr>
              <a:tr h="515647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>
                          <a:solidFill>
                            <a:schemeClr val="bg1"/>
                          </a:solidFill>
                        </a:rPr>
                        <a:t>Faculty_ID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>
                          <a:solidFill>
                            <a:schemeClr val="bg1"/>
                          </a:solidFill>
                        </a:rPr>
                        <a:t>Department_ID</a:t>
                      </a:r>
                      <a:r>
                        <a:rPr lang="en-IN">
                          <a:solidFill>
                            <a:schemeClr val="bg1"/>
                          </a:solidFill>
                        </a:rPr>
                        <a:t> → Department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634345"/>
                  </a:ext>
                </a:extLst>
              </a:tr>
              <a:tr h="515647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>
                          <a:solidFill>
                            <a:schemeClr val="bg1"/>
                          </a:solidFill>
                        </a:rPr>
                        <a:t>Department_</a:t>
                      </a:r>
                      <a:r>
                        <a:rPr lang="en-IN" i="1" err="1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                        </a:t>
                      </a:r>
                      <a:r>
                        <a:rPr lang="en-IN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771239"/>
                  </a:ext>
                </a:extLst>
              </a:tr>
              <a:tr h="515647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>
                          <a:solidFill>
                            <a:schemeClr val="bg1"/>
                          </a:solidFill>
                        </a:rPr>
                        <a:t>Course_ID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err="1">
                          <a:solidFill>
                            <a:schemeClr val="bg1"/>
                          </a:solidFill>
                        </a:rPr>
                        <a:t>Department_ID</a:t>
                      </a:r>
                      <a:r>
                        <a:rPr lang="en-IN">
                          <a:solidFill>
                            <a:schemeClr val="bg1"/>
                          </a:solidFill>
                        </a:rPr>
                        <a:t> → Department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20609"/>
                  </a:ext>
                </a:extLst>
              </a:tr>
              <a:tr h="515647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>
                          <a:solidFill>
                            <a:schemeClr val="bg1"/>
                          </a:solidFill>
                        </a:rPr>
                        <a:t>Subject_ID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chemeClr val="bg1"/>
                          </a:solidFill>
                        </a:rPr>
                        <a:t>Course_ID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→ Course, </a:t>
                      </a:r>
                      <a:r>
                        <a:rPr lang="en-US" err="1">
                          <a:solidFill>
                            <a:schemeClr val="bg1"/>
                          </a:solidFill>
                        </a:rPr>
                        <a:t>Faculty_ID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→ Faculty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496092"/>
                  </a:ext>
                </a:extLst>
              </a:tr>
              <a:tr h="515647">
                <a:tc>
                  <a:txBody>
                    <a:bodyPr/>
                    <a:lstStyle/>
                    <a:p>
                      <a:r>
                        <a:rPr lang="en-IN" err="1">
                          <a:solidFill>
                            <a:schemeClr val="bg1"/>
                          </a:solidFill>
                        </a:rPr>
                        <a:t>Enrollment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>
                          <a:solidFill>
                            <a:schemeClr val="bg1"/>
                          </a:solidFill>
                        </a:rPr>
                        <a:t>Enrollment_ID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Student_ID → Student, </a:t>
                      </a:r>
                      <a:r>
                        <a:rPr lang="en-IN" err="1">
                          <a:solidFill>
                            <a:schemeClr val="bg1"/>
                          </a:solidFill>
                        </a:rPr>
                        <a:t>Course_ID</a:t>
                      </a:r>
                      <a:r>
                        <a:rPr lang="en-IN">
                          <a:solidFill>
                            <a:schemeClr val="bg1"/>
                          </a:solidFill>
                        </a:rPr>
                        <a:t> →Course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308342"/>
                  </a:ext>
                </a:extLst>
              </a:tr>
              <a:tr h="515647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Examination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>
                          <a:solidFill>
                            <a:schemeClr val="bg1"/>
                          </a:solidFill>
                        </a:rPr>
                        <a:t>Exam_ID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>
                          <a:solidFill>
                            <a:schemeClr val="bg1"/>
                          </a:solidFill>
                        </a:rPr>
                        <a:t>Subject_ID</a:t>
                      </a:r>
                      <a:r>
                        <a:rPr lang="en-IN">
                          <a:solidFill>
                            <a:schemeClr val="bg1"/>
                          </a:solidFill>
                        </a:rPr>
                        <a:t> → Subject, Student_ID →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471084"/>
                  </a:ext>
                </a:extLst>
              </a:tr>
              <a:tr h="515647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>
                          <a:solidFill>
                            <a:schemeClr val="bg1"/>
                          </a:solidFill>
                        </a:rPr>
                        <a:t>Attendance_ID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Student_ID → Student, </a:t>
                      </a:r>
                      <a:r>
                        <a:rPr lang="en-IN" err="1">
                          <a:solidFill>
                            <a:schemeClr val="bg1"/>
                          </a:solidFill>
                        </a:rPr>
                        <a:t>Subject_ID</a:t>
                      </a:r>
                      <a:r>
                        <a:rPr lang="en-IN">
                          <a:solidFill>
                            <a:schemeClr val="bg1"/>
                          </a:solidFill>
                        </a:rPr>
                        <a:t> → Subject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648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5551741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4011706" y="75008"/>
            <a:ext cx="4503445" cy="1057333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4482353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AC2B9-1ED8-6E01-F8BB-317E98ED3B64}"/>
              </a:ext>
            </a:extLst>
          </p:cNvPr>
          <p:cNvSpPr txBox="1"/>
          <p:nvPr/>
        </p:nvSpPr>
        <p:spPr>
          <a:xfrm>
            <a:off x="5638667" y="1433587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6"/>
              </a:rPr>
              <a:t>https://github.com/pardhivasai-23/University-library-management-system</a:t>
            </a:r>
            <a:endParaRPr lang="en-IN"/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800823-82F4-CF0A-2B58-652C6ED7BD93}"/>
              </a:ext>
            </a:extLst>
          </p:cNvPr>
          <p:cNvSpPr txBox="1"/>
          <p:nvPr/>
        </p:nvSpPr>
        <p:spPr>
          <a:xfrm>
            <a:off x="457333" y="1433587"/>
            <a:ext cx="50944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Repository</a:t>
            </a:r>
            <a:endParaRPr lang="en-US" dirty="0"/>
          </a:p>
          <a:p>
            <a:r>
              <a:rPr lang="en-US" dirty="0"/>
              <a:t>🔗 </a:t>
            </a:r>
            <a:r>
              <a:rPr lang="en-US" b="1" dirty="0"/>
              <a:t>University Academic Management System –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0BB507-321B-045A-F2FD-DD0EF42F9F7F}"/>
              </a:ext>
            </a:extLst>
          </p:cNvPr>
          <p:cNvSpPr txBox="1"/>
          <p:nvPr/>
        </p:nvSpPr>
        <p:spPr>
          <a:xfrm>
            <a:off x="709448" y="2690336"/>
            <a:ext cx="29062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Repository Contents:</a:t>
            </a:r>
            <a:endParaRPr lang="en-US" dirty="0"/>
          </a:p>
          <a:p>
            <a:pPr lvl="0"/>
            <a:r>
              <a:rPr lang="en-US" dirty="0"/>
              <a:t>📌 Project Documentation </a:t>
            </a:r>
          </a:p>
          <a:p>
            <a:pPr lvl="0"/>
            <a:r>
              <a:rPr lang="en-US" dirty="0"/>
              <a:t>📌 ER Diagram </a:t>
            </a:r>
          </a:p>
          <a:p>
            <a:pPr lvl="0"/>
            <a:r>
              <a:rPr lang="en-US" dirty="0"/>
              <a:t>📌 Database Schema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36ADC5-7A18-644C-9C41-C570B7C09E31}"/>
              </a:ext>
            </a:extLst>
          </p:cNvPr>
          <p:cNvSpPr txBox="1"/>
          <p:nvPr/>
        </p:nvSpPr>
        <p:spPr>
          <a:xfrm>
            <a:off x="675253" y="3762419"/>
            <a:ext cx="37215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/>
              <a:t>📌 Table Structures </a:t>
            </a:r>
          </a:p>
          <a:p>
            <a:pPr lvl="0"/>
            <a:r>
              <a:rPr lang="en-US" dirty="0"/>
              <a:t>📌 Relationships between entities </a:t>
            </a:r>
          </a:p>
          <a:p>
            <a:pPr lvl="0"/>
            <a:r>
              <a:rPr lang="en-US" dirty="0"/>
              <a:t>📌 SQL Queries / Database Scripts </a:t>
            </a:r>
          </a:p>
          <a:p>
            <a:pPr lvl="0"/>
            <a:r>
              <a:rPr lang="en-US" dirty="0"/>
              <a:t>📌 Project Details and References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178E71-F7B1-76D8-5782-094301340D69}"/>
              </a:ext>
            </a:extLst>
          </p:cNvPr>
          <p:cNvSpPr txBox="1"/>
          <p:nvPr/>
        </p:nvSpPr>
        <p:spPr>
          <a:xfrm>
            <a:off x="423605" y="5213811"/>
            <a:ext cx="87730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The GitHub repository provides a centralized location for the project's database design,</a:t>
            </a:r>
          </a:p>
          <a:p>
            <a:r>
              <a:rPr lang="en-US" dirty="0"/>
              <a:t> ER diagram, schema, and supporting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5551741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3187955" y="-2181245"/>
            <a:ext cx="4503445" cy="3392244"/>
            <a:chOff x="2648188" y="-2599091"/>
            <a:chExt cx="5103904" cy="3844550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-2599091"/>
              <a:ext cx="4997767" cy="1092281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28926" y="86440"/>
              <a:ext cx="4534296" cy="377145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716593" y="198169"/>
            <a:ext cx="5173793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9A785-EE0E-9BD0-97B6-68E0A71653D6}"/>
              </a:ext>
            </a:extLst>
          </p:cNvPr>
          <p:cNvSpPr txBox="1"/>
          <p:nvPr/>
        </p:nvSpPr>
        <p:spPr>
          <a:xfrm>
            <a:off x="690880" y="579120"/>
            <a:ext cx="5410905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-- 1. DEPARTMENT</a:t>
            </a:r>
          </a:p>
          <a:p>
            <a:r>
              <a:rPr lang="en-US" sz="1200"/>
              <a:t>CREATE TABLE Department (</a:t>
            </a:r>
          </a:p>
          <a:p>
            <a:r>
              <a:rPr lang="en-US" sz="1200"/>
              <a:t>    </a:t>
            </a:r>
            <a:r>
              <a:rPr lang="en-US" sz="1200" err="1"/>
              <a:t>Department_ID</a:t>
            </a:r>
            <a:r>
              <a:rPr lang="en-US" sz="1200"/>
              <a:t> INT PRIMARY KEY,</a:t>
            </a:r>
          </a:p>
          <a:p>
            <a:r>
              <a:rPr lang="en-US" sz="1200"/>
              <a:t>    </a:t>
            </a:r>
            <a:r>
              <a:rPr lang="en-US" sz="1200" err="1"/>
              <a:t>Department_Name</a:t>
            </a:r>
            <a:r>
              <a:rPr lang="en-US" sz="1200"/>
              <a:t> VARCHAR(100) NOT NULL UNIQUE,</a:t>
            </a:r>
          </a:p>
          <a:p>
            <a:r>
              <a:rPr lang="en-US" sz="1200"/>
              <a:t>    </a:t>
            </a:r>
            <a:r>
              <a:rPr lang="en-US" sz="1200" err="1"/>
              <a:t>HOD_Name</a:t>
            </a:r>
            <a:r>
              <a:rPr lang="en-US" sz="1200"/>
              <a:t> VARCHAR(100) NOT NULL,</a:t>
            </a:r>
          </a:p>
          <a:p>
            <a:r>
              <a:rPr lang="en-US" sz="1200"/>
              <a:t>    </a:t>
            </a:r>
            <a:r>
              <a:rPr lang="en-US" sz="1200" err="1"/>
              <a:t>Office_Location</a:t>
            </a:r>
            <a:r>
              <a:rPr lang="en-US" sz="1200"/>
              <a:t> VARCHAR(100) DEFAULT 'Main Block’   );</a:t>
            </a:r>
          </a:p>
          <a:p>
            <a:r>
              <a:rPr lang="en-US" sz="1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-- 2. FACULTY</a:t>
            </a:r>
          </a:p>
          <a:p>
            <a:r>
              <a:rPr lang="en-US" sz="1200"/>
              <a:t>CREATE TABLE Faculty (</a:t>
            </a:r>
          </a:p>
          <a:p>
            <a:r>
              <a:rPr lang="en-US" sz="1200"/>
              <a:t>    </a:t>
            </a:r>
            <a:r>
              <a:rPr lang="en-US" sz="1200" err="1"/>
              <a:t>Faculty_ID</a:t>
            </a:r>
            <a:r>
              <a:rPr lang="en-US" sz="1200"/>
              <a:t> INT PRIMARY KEY,</a:t>
            </a:r>
          </a:p>
          <a:p>
            <a:r>
              <a:rPr lang="en-US" sz="1200"/>
              <a:t>    </a:t>
            </a:r>
            <a:r>
              <a:rPr lang="en-US" sz="1200" err="1"/>
              <a:t>Faculty_Name</a:t>
            </a:r>
            <a:r>
              <a:rPr lang="en-US" sz="1200"/>
              <a:t> VARCHAR(100) NOT NULL,</a:t>
            </a:r>
          </a:p>
          <a:p>
            <a:r>
              <a:rPr lang="en-US" sz="1200"/>
              <a:t>    Email VARCHAR(100) NOT NULL UNIQUE,</a:t>
            </a:r>
          </a:p>
          <a:p>
            <a:r>
              <a:rPr lang="en-US" sz="1200"/>
              <a:t>    Phone VARCHAR(15) UNIQUE,</a:t>
            </a:r>
          </a:p>
          <a:p>
            <a:r>
              <a:rPr lang="en-US" sz="1200"/>
              <a:t>    Designation VARCHAR(50) DEFAULT 'Assistant Professor',</a:t>
            </a:r>
          </a:p>
          <a:p>
            <a:r>
              <a:rPr lang="en-US" sz="1200"/>
              <a:t>    </a:t>
            </a:r>
            <a:r>
              <a:rPr lang="en-US" sz="1200" err="1"/>
              <a:t>Department_ID</a:t>
            </a:r>
            <a:r>
              <a:rPr lang="en-US" sz="1200"/>
              <a:t> INT NOT NULL,</a:t>
            </a:r>
          </a:p>
          <a:p>
            <a:r>
              <a:rPr lang="en-US" sz="1200"/>
              <a:t>    FOREIGN KEY (</a:t>
            </a:r>
            <a:r>
              <a:rPr lang="en-US" sz="1200" err="1"/>
              <a:t>Department_ID</a:t>
            </a:r>
            <a:r>
              <a:rPr lang="en-US" sz="1200"/>
              <a:t>) REFERENCES Department(</a:t>
            </a:r>
            <a:r>
              <a:rPr lang="en-US" sz="1200" err="1"/>
              <a:t>Department_ID</a:t>
            </a:r>
            <a:r>
              <a:rPr lang="en-US" sz="1200"/>
              <a:t>)  );</a:t>
            </a:r>
          </a:p>
          <a:p>
            <a:r>
              <a:rPr lang="en-US" sz="1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-- 3. COURSE</a:t>
            </a:r>
          </a:p>
          <a:p>
            <a:r>
              <a:rPr lang="en-US" sz="1200"/>
              <a:t>CREATE TABLE Course (</a:t>
            </a:r>
          </a:p>
          <a:p>
            <a:r>
              <a:rPr lang="en-US" sz="1200"/>
              <a:t>    </a:t>
            </a:r>
            <a:r>
              <a:rPr lang="en-US" sz="1200" err="1"/>
              <a:t>Course_ID</a:t>
            </a:r>
            <a:r>
              <a:rPr lang="en-US" sz="1200"/>
              <a:t> INT PRIMARY KEY,</a:t>
            </a:r>
          </a:p>
          <a:p>
            <a:r>
              <a:rPr lang="en-US" sz="1200"/>
              <a:t>    </a:t>
            </a:r>
            <a:r>
              <a:rPr lang="en-US" sz="1200" err="1"/>
              <a:t>Course_Name</a:t>
            </a:r>
            <a:r>
              <a:rPr lang="en-US" sz="1200"/>
              <a:t> VARCHAR(100) NOT NULL UNIQUE,</a:t>
            </a:r>
          </a:p>
          <a:p>
            <a:r>
              <a:rPr lang="en-US" sz="1200"/>
              <a:t>    Duration INT CHECK (Duration &gt; 0),</a:t>
            </a:r>
          </a:p>
          <a:p>
            <a:r>
              <a:rPr lang="en-US" sz="1200"/>
              <a:t>    </a:t>
            </a:r>
            <a:r>
              <a:rPr lang="en-US" sz="1200" err="1"/>
              <a:t>Department_ID</a:t>
            </a:r>
            <a:r>
              <a:rPr lang="en-US" sz="1200"/>
              <a:t> INT NOT NULL,</a:t>
            </a:r>
          </a:p>
          <a:p>
            <a:r>
              <a:rPr lang="en-US" sz="1200"/>
              <a:t>    FOREIGN KEY (</a:t>
            </a:r>
            <a:r>
              <a:rPr lang="en-US" sz="1200" err="1"/>
              <a:t>Department_ID</a:t>
            </a:r>
            <a:r>
              <a:rPr lang="en-US" sz="1200"/>
              <a:t>) REFERENCES Department(</a:t>
            </a:r>
            <a:r>
              <a:rPr lang="en-US" sz="1200" err="1"/>
              <a:t>Department_ID</a:t>
            </a:r>
            <a:r>
              <a:rPr lang="en-US" sz="1200"/>
              <a:t>)  );</a:t>
            </a:r>
          </a:p>
          <a:p>
            <a:r>
              <a:rPr lang="en-US" sz="1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-- 4. STUDENT</a:t>
            </a:r>
          </a:p>
          <a:p>
            <a:r>
              <a:rPr lang="en-US" sz="1200"/>
              <a:t>CREATE TABLE Student (</a:t>
            </a:r>
          </a:p>
          <a:p>
            <a:r>
              <a:rPr lang="en-US" sz="1200"/>
              <a:t>    Student_ID INT PRIMARY KEY,</a:t>
            </a:r>
          </a:p>
          <a:p>
            <a:r>
              <a:rPr lang="en-US" sz="1200"/>
              <a:t>    </a:t>
            </a:r>
            <a:r>
              <a:rPr lang="en-US" sz="1200" err="1"/>
              <a:t>Student_Name</a:t>
            </a:r>
            <a:r>
              <a:rPr lang="en-US" sz="1200"/>
              <a:t> VARCHAR(100) NOT NULL,</a:t>
            </a:r>
          </a:p>
          <a:p>
            <a:r>
              <a:rPr lang="en-US" sz="1200"/>
              <a:t>    </a:t>
            </a:r>
            <a:r>
              <a:rPr lang="en-US" sz="1200" err="1"/>
              <a:t>Date_of_Birth</a:t>
            </a:r>
            <a:r>
              <a:rPr lang="en-US" sz="1200"/>
              <a:t> DATE NOT NULL,</a:t>
            </a:r>
          </a:p>
          <a:p>
            <a:r>
              <a:rPr lang="en-US" sz="1200"/>
              <a:t>    Gender VARCHAR(10) CHECK (Gender IN ('Male', 'Female', 'Other')),</a:t>
            </a:r>
          </a:p>
          <a:p>
            <a:r>
              <a:rPr lang="en-US" sz="1200"/>
              <a:t>    Email VARCHAR(100) NOT NULL UNIQUE,</a:t>
            </a:r>
          </a:p>
          <a:p>
            <a:r>
              <a:rPr lang="en-US" sz="1200"/>
              <a:t>    Phone VARCHAR(15) UNIQUE,</a:t>
            </a:r>
          </a:p>
          <a:p>
            <a:r>
              <a:rPr lang="en-US" sz="1200"/>
              <a:t>    Address VARCHAR(200) DEFAULT 'Not Provided',</a:t>
            </a:r>
          </a:p>
          <a:p>
            <a:r>
              <a:rPr lang="en-US" sz="1200"/>
              <a:t>    </a:t>
            </a:r>
            <a:r>
              <a:rPr lang="en-US" sz="1200" err="1"/>
              <a:t>Course_ID</a:t>
            </a:r>
            <a:r>
              <a:rPr lang="en-US" sz="1200"/>
              <a:t> INT NOT NULL,</a:t>
            </a:r>
          </a:p>
          <a:p>
            <a:r>
              <a:rPr lang="en-US" sz="1200"/>
              <a:t>    FOREIGN KEY (</a:t>
            </a:r>
            <a:r>
              <a:rPr lang="en-US" sz="1200" err="1"/>
              <a:t>Course_ID</a:t>
            </a:r>
            <a:r>
              <a:rPr lang="en-US" sz="1200"/>
              <a:t>) REFERENCES Course(</a:t>
            </a:r>
            <a:r>
              <a:rPr lang="en-US" sz="1200" err="1"/>
              <a:t>Course_ID</a:t>
            </a:r>
            <a:r>
              <a:rPr lang="en-US" sz="1200"/>
              <a:t>)  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774F06-BFA8-F7F4-D4FF-AC004E194D16}"/>
              </a:ext>
            </a:extLst>
          </p:cNvPr>
          <p:cNvSpPr txBox="1"/>
          <p:nvPr/>
        </p:nvSpPr>
        <p:spPr>
          <a:xfrm>
            <a:off x="7223760" y="387348"/>
            <a:ext cx="611632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-- 5. SUBJECT</a:t>
            </a:r>
          </a:p>
          <a:p>
            <a:r>
              <a:rPr lang="en-US" sz="1100"/>
              <a:t>CREATE TABLE Subject (</a:t>
            </a:r>
          </a:p>
          <a:p>
            <a:r>
              <a:rPr lang="en-US" sz="1100"/>
              <a:t>    </a:t>
            </a:r>
            <a:r>
              <a:rPr lang="en-US" sz="1100" err="1"/>
              <a:t>Subject_ID</a:t>
            </a:r>
            <a:r>
              <a:rPr lang="en-US" sz="1100"/>
              <a:t> INT PRIMARY KEY,</a:t>
            </a:r>
          </a:p>
          <a:p>
            <a:r>
              <a:rPr lang="en-US" sz="1100"/>
              <a:t>    </a:t>
            </a:r>
            <a:r>
              <a:rPr lang="en-US" sz="1100" err="1"/>
              <a:t>Subject_Name</a:t>
            </a:r>
            <a:r>
              <a:rPr lang="en-US" sz="1100"/>
              <a:t> VARCHAR(100) NOT NULL UNIQUE,</a:t>
            </a:r>
          </a:p>
          <a:p>
            <a:r>
              <a:rPr lang="en-US" sz="1100"/>
              <a:t>    Credits INT CHECK (Credits BETWEEN 1 AND 6),</a:t>
            </a:r>
          </a:p>
          <a:p>
            <a:r>
              <a:rPr lang="en-US" sz="1100"/>
              <a:t>    Semester INT CHECK (Semester BETWEEN 1 AND 8),</a:t>
            </a:r>
          </a:p>
          <a:p>
            <a:r>
              <a:rPr lang="en-US" sz="1100"/>
              <a:t>    </a:t>
            </a:r>
            <a:r>
              <a:rPr lang="en-US" sz="1100" err="1"/>
              <a:t>Course_ID</a:t>
            </a:r>
            <a:r>
              <a:rPr lang="en-US" sz="1100"/>
              <a:t> INT NOT NULL,</a:t>
            </a:r>
          </a:p>
          <a:p>
            <a:r>
              <a:rPr lang="en-US" sz="1100"/>
              <a:t>    </a:t>
            </a:r>
            <a:r>
              <a:rPr lang="en-US" sz="1100" err="1"/>
              <a:t>Faculty_ID</a:t>
            </a:r>
            <a:r>
              <a:rPr lang="en-US" sz="1100"/>
              <a:t> INT NOT NULL,</a:t>
            </a:r>
          </a:p>
          <a:p>
            <a:r>
              <a:rPr lang="en-US" sz="1100"/>
              <a:t>    FOREIGN KEY (</a:t>
            </a:r>
            <a:r>
              <a:rPr lang="en-US" sz="1100" err="1"/>
              <a:t>Course_ID</a:t>
            </a:r>
            <a:r>
              <a:rPr lang="en-US" sz="1100"/>
              <a:t>) REFERENCES Course(</a:t>
            </a:r>
            <a:r>
              <a:rPr lang="en-US" sz="1100" err="1"/>
              <a:t>Course_ID</a:t>
            </a:r>
            <a:r>
              <a:rPr lang="en-US" sz="1100"/>
              <a:t>),</a:t>
            </a:r>
          </a:p>
          <a:p>
            <a:r>
              <a:rPr lang="en-US" sz="1100"/>
              <a:t>    FOREIGN KEY (</a:t>
            </a:r>
            <a:r>
              <a:rPr lang="en-US" sz="1100" err="1"/>
              <a:t>Faculty_ID</a:t>
            </a:r>
            <a:r>
              <a:rPr lang="en-US" sz="1100"/>
              <a:t>) REFERENCES Faculty(</a:t>
            </a:r>
            <a:r>
              <a:rPr lang="en-US" sz="1100" err="1"/>
              <a:t>Faculty_ID</a:t>
            </a:r>
            <a:r>
              <a:rPr lang="en-US" sz="1100"/>
              <a:t>) );</a:t>
            </a:r>
          </a:p>
          <a:p>
            <a:r>
              <a:rPr lang="en-US" sz="11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-- 6. ENROLLMENT</a:t>
            </a:r>
          </a:p>
          <a:p>
            <a:r>
              <a:rPr lang="en-US" sz="1100"/>
              <a:t>CREATE TABLE Enrollment (</a:t>
            </a:r>
          </a:p>
          <a:p>
            <a:r>
              <a:rPr lang="en-US" sz="1100"/>
              <a:t>    </a:t>
            </a:r>
            <a:r>
              <a:rPr lang="en-US" sz="1100" err="1"/>
              <a:t>Enrollment_ID</a:t>
            </a:r>
            <a:r>
              <a:rPr lang="en-US" sz="1100"/>
              <a:t> INT PRIMARY KEY,</a:t>
            </a:r>
          </a:p>
          <a:p>
            <a:r>
              <a:rPr lang="en-US" sz="1100"/>
              <a:t>    Student_ID INT NOT NULL,</a:t>
            </a:r>
          </a:p>
          <a:p>
            <a:r>
              <a:rPr lang="en-US" sz="1100"/>
              <a:t>    </a:t>
            </a:r>
            <a:r>
              <a:rPr lang="en-US" sz="1100" err="1"/>
              <a:t>Course_ID</a:t>
            </a:r>
            <a:r>
              <a:rPr lang="en-US" sz="1100"/>
              <a:t> INT NOT NULL,</a:t>
            </a:r>
          </a:p>
          <a:p>
            <a:r>
              <a:rPr lang="en-US" sz="1100"/>
              <a:t>    </a:t>
            </a:r>
            <a:r>
              <a:rPr lang="en-US" sz="1100" err="1"/>
              <a:t>Enrollment_Date</a:t>
            </a:r>
            <a:r>
              <a:rPr lang="en-US" sz="1100"/>
              <a:t> DATE DEFAULT (CURRENT_DATE),</a:t>
            </a:r>
          </a:p>
          <a:p>
            <a:r>
              <a:rPr lang="en-US" sz="1100"/>
              <a:t>    FOREIGN KEY (Student_ID) REFERENCES Student(Student_ID),</a:t>
            </a:r>
          </a:p>
          <a:p>
            <a:r>
              <a:rPr lang="en-US" sz="1100"/>
              <a:t>    FOREIGN KEY (</a:t>
            </a:r>
            <a:r>
              <a:rPr lang="en-US" sz="1100" err="1"/>
              <a:t>Course_ID</a:t>
            </a:r>
            <a:r>
              <a:rPr lang="en-US" sz="1100"/>
              <a:t>) REFERENCES Course(</a:t>
            </a:r>
            <a:r>
              <a:rPr lang="en-US" sz="1100" err="1"/>
              <a:t>Course_ID</a:t>
            </a:r>
            <a:r>
              <a:rPr lang="en-US" sz="1100"/>
              <a:t>),</a:t>
            </a:r>
          </a:p>
          <a:p>
            <a:r>
              <a:rPr lang="en-US" sz="1100"/>
              <a:t>    UNIQUE (Student_ID, </a:t>
            </a:r>
            <a:r>
              <a:rPr lang="en-US" sz="1100" err="1"/>
              <a:t>Course_ID</a:t>
            </a:r>
            <a:r>
              <a:rPr lang="en-US" sz="1100"/>
              <a:t>)  );</a:t>
            </a:r>
          </a:p>
          <a:p>
            <a:r>
              <a:rPr lang="en-US" sz="11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-- 7. EXAMINATION</a:t>
            </a:r>
          </a:p>
          <a:p>
            <a:r>
              <a:rPr lang="en-US" sz="1100"/>
              <a:t>CREATE TABLE Examination (</a:t>
            </a:r>
          </a:p>
          <a:p>
            <a:r>
              <a:rPr lang="en-US" sz="1100"/>
              <a:t>    </a:t>
            </a:r>
            <a:r>
              <a:rPr lang="en-US" sz="1100" err="1"/>
              <a:t>Exam_ID</a:t>
            </a:r>
            <a:r>
              <a:rPr lang="en-US" sz="1100"/>
              <a:t> INT PRIMARY KEY,</a:t>
            </a:r>
          </a:p>
          <a:p>
            <a:r>
              <a:rPr lang="en-US" sz="1100"/>
              <a:t>    Student_ID INT NOT NULL,</a:t>
            </a:r>
          </a:p>
          <a:p>
            <a:r>
              <a:rPr lang="en-US" sz="1100"/>
              <a:t>    </a:t>
            </a:r>
            <a:r>
              <a:rPr lang="en-US" sz="1100" err="1"/>
              <a:t>Subject_ID</a:t>
            </a:r>
            <a:r>
              <a:rPr lang="en-US" sz="1100"/>
              <a:t> INT NOT NULL,</a:t>
            </a:r>
          </a:p>
          <a:p>
            <a:r>
              <a:rPr lang="en-US" sz="1100"/>
              <a:t>    </a:t>
            </a:r>
            <a:r>
              <a:rPr lang="en-US" sz="1100" err="1"/>
              <a:t>Exam_Type</a:t>
            </a:r>
            <a:r>
              <a:rPr lang="en-US" sz="1100"/>
              <a:t> VARCHAR(50) NOT NULL,</a:t>
            </a:r>
          </a:p>
          <a:p>
            <a:r>
              <a:rPr lang="en-US" sz="1100"/>
              <a:t>    </a:t>
            </a:r>
            <a:r>
              <a:rPr lang="en-US" sz="1100" err="1"/>
              <a:t>Exam_Date</a:t>
            </a:r>
            <a:r>
              <a:rPr lang="en-US" sz="1100"/>
              <a:t> DATE NOT NULL,</a:t>
            </a:r>
          </a:p>
          <a:p>
            <a:r>
              <a:rPr lang="en-US" sz="1100"/>
              <a:t>    </a:t>
            </a:r>
            <a:r>
              <a:rPr lang="en-US" sz="1100" err="1"/>
              <a:t>Total_Marks</a:t>
            </a:r>
            <a:r>
              <a:rPr lang="en-US" sz="1100"/>
              <a:t> INT DEFAULT 100 CHECK (</a:t>
            </a:r>
            <a:r>
              <a:rPr lang="en-US" sz="1100" err="1"/>
              <a:t>Total_Marks</a:t>
            </a:r>
            <a:r>
              <a:rPr lang="en-US" sz="1100"/>
              <a:t> &gt; 0),</a:t>
            </a:r>
          </a:p>
          <a:p>
            <a:r>
              <a:rPr lang="en-US" sz="1100"/>
              <a:t>    FOREIGN KEY (Student_ID) REFERENCES Student(Student_ID),</a:t>
            </a:r>
          </a:p>
          <a:p>
            <a:r>
              <a:rPr lang="en-US" sz="1100"/>
              <a:t>    FOREIGN KEY (</a:t>
            </a:r>
            <a:r>
              <a:rPr lang="en-US" sz="1100" err="1"/>
              <a:t>Subject_ID</a:t>
            </a:r>
            <a:r>
              <a:rPr lang="en-US" sz="1100"/>
              <a:t>) REFERENCES Subject(</a:t>
            </a:r>
            <a:r>
              <a:rPr lang="en-US" sz="1100" err="1"/>
              <a:t>Subject_ID</a:t>
            </a:r>
            <a:r>
              <a:rPr lang="en-US" sz="1100"/>
              <a:t>)  );</a:t>
            </a:r>
          </a:p>
          <a:p>
            <a:r>
              <a:rPr lang="en-US" sz="11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-- 8. ATTENDANCE</a:t>
            </a:r>
          </a:p>
          <a:p>
            <a:r>
              <a:rPr lang="en-US" sz="1100"/>
              <a:t>CREATE TABLE Attendance (</a:t>
            </a:r>
          </a:p>
          <a:p>
            <a:r>
              <a:rPr lang="en-US" sz="1100"/>
              <a:t>    </a:t>
            </a:r>
            <a:r>
              <a:rPr lang="en-US" sz="1100" err="1"/>
              <a:t>Attendance_ID</a:t>
            </a:r>
            <a:r>
              <a:rPr lang="en-US" sz="1100"/>
              <a:t> INT PRIMARY KEY,</a:t>
            </a:r>
          </a:p>
          <a:p>
            <a:r>
              <a:rPr lang="en-US" sz="1100"/>
              <a:t>    Student_ID INT NOT NULL,</a:t>
            </a:r>
          </a:p>
          <a:p>
            <a:r>
              <a:rPr lang="en-US" sz="1100"/>
              <a:t>    </a:t>
            </a:r>
            <a:r>
              <a:rPr lang="en-US" sz="1100" err="1"/>
              <a:t>Subject_ID</a:t>
            </a:r>
            <a:r>
              <a:rPr lang="en-US" sz="1100"/>
              <a:t> INT NOT NULL,</a:t>
            </a:r>
          </a:p>
          <a:p>
            <a:r>
              <a:rPr lang="en-US" sz="1100"/>
              <a:t>    </a:t>
            </a:r>
            <a:r>
              <a:rPr lang="en-US" sz="1100" err="1"/>
              <a:t>Attendance_Date</a:t>
            </a:r>
            <a:r>
              <a:rPr lang="en-US" sz="1100"/>
              <a:t> DATE DEFAULT (CURRENT_DATE),</a:t>
            </a:r>
          </a:p>
          <a:p>
            <a:r>
              <a:rPr lang="en-US" sz="1100"/>
              <a:t>    Status VARCHAR(20) DEFAULT 'Present' CHECK (Status IN ('Present', 'Absent')),</a:t>
            </a:r>
          </a:p>
          <a:p>
            <a:r>
              <a:rPr lang="en-US" sz="1100"/>
              <a:t>    FOREIGN KEY (Student_ID) REFERENCES Student(Student_ID),</a:t>
            </a:r>
          </a:p>
          <a:p>
            <a:r>
              <a:rPr lang="en-US" sz="1100"/>
              <a:t>    FOREIGN KEY (</a:t>
            </a:r>
            <a:r>
              <a:rPr lang="en-US" sz="1100" err="1"/>
              <a:t>Subject_ID</a:t>
            </a:r>
            <a:r>
              <a:rPr lang="en-US" sz="1100"/>
              <a:t>) REFERENCES Subject(</a:t>
            </a:r>
            <a:r>
              <a:rPr lang="en-US" sz="1100" err="1"/>
              <a:t>Subject_ID</a:t>
            </a:r>
            <a:r>
              <a:rPr lang="en-US" sz="1100"/>
              <a:t>)  );</a:t>
            </a: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303871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5551741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4011706" y="75008"/>
            <a:ext cx="4503445" cy="1057333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4482353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57B5C5-ED1F-B78B-5897-1F956AE34BE7}"/>
              </a:ext>
            </a:extLst>
          </p:cNvPr>
          <p:cNvSpPr txBox="1"/>
          <p:nvPr/>
        </p:nvSpPr>
        <p:spPr>
          <a:xfrm>
            <a:off x="152400" y="552144"/>
            <a:ext cx="687832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>
                <a:solidFill>
                  <a:schemeClr val="accent2"/>
                </a:solidFill>
              </a:rPr>
              <a:t>-- 1. DEPARTMENT</a:t>
            </a:r>
          </a:p>
          <a:p>
            <a:r>
              <a:rPr lang="en-IN" sz="1200"/>
              <a:t>INSERT INTO Department VALUES (101, 'Computer Science', 'Dr. Ravi Kumar', 'Block A');</a:t>
            </a:r>
          </a:p>
          <a:p>
            <a:r>
              <a:rPr lang="en-IN" sz="1200"/>
              <a:t>INSERT INTO Department VALUES (102, 'Artificial Intelligence', 'Dr. Priya Sharma', 'Block B');</a:t>
            </a:r>
          </a:p>
          <a:p>
            <a:r>
              <a:rPr lang="en-IN" sz="1200"/>
              <a:t>INSERT INTO Department VALUES (103, 'Electronics', 'Dr. Suresh Rao', 'Block C');</a:t>
            </a:r>
          </a:p>
          <a:p>
            <a:r>
              <a:rPr lang="en-IN" sz="1200" b="1">
                <a:solidFill>
                  <a:schemeClr val="accent2"/>
                </a:solidFill>
              </a:rPr>
              <a:t>-- 2. FACULTY</a:t>
            </a:r>
          </a:p>
          <a:p>
            <a:r>
              <a:rPr lang="en-IN" sz="1200"/>
              <a:t>INSERT INTO Faculty VALUES (201, 'Anil Kumar', 'anil@university.com', '9876543210', 'Professor', 101);</a:t>
            </a:r>
          </a:p>
          <a:p>
            <a:r>
              <a:rPr lang="en-IN" sz="1200"/>
              <a:t>INSERT INTO Faculty VALUES (202, 'Swathi Reddy', 'swathi@university.com', '9876543211', 'Assistant Professor', 101);</a:t>
            </a:r>
          </a:p>
          <a:p>
            <a:r>
              <a:rPr lang="en-IN" sz="1200"/>
              <a:t>INSERT INTO Faculty VALUES (203, 'Kiran Das', 'kiran@university.com', '9876543212', 'Associate Professor', 102);</a:t>
            </a:r>
          </a:p>
          <a:p>
            <a:r>
              <a:rPr lang="en-IN" sz="1200"/>
              <a:t>INSERT INTO Faculty VALUES (204, 'Meena Devi', 'meena@university.com', '9876543213', 'Assistant Professor', 103);</a:t>
            </a:r>
          </a:p>
          <a:p>
            <a:r>
              <a:rPr lang="en-IN" sz="1200" b="1">
                <a:solidFill>
                  <a:schemeClr val="accent2"/>
                </a:solidFill>
              </a:rPr>
              <a:t>-- 3. COURSE</a:t>
            </a:r>
          </a:p>
          <a:p>
            <a:r>
              <a:rPr lang="en-IN" sz="1200"/>
              <a:t>INSERT INTO Course VALUES (301, '</a:t>
            </a:r>
            <a:r>
              <a:rPr lang="en-IN" sz="1200" err="1"/>
              <a:t>B.Tech</a:t>
            </a:r>
            <a:r>
              <a:rPr lang="en-IN" sz="1200"/>
              <a:t> CSE', 4, 101);</a:t>
            </a:r>
          </a:p>
          <a:p>
            <a:r>
              <a:rPr lang="en-IN" sz="1200"/>
              <a:t>INSERT INTO Course VALUES (302, '</a:t>
            </a:r>
            <a:r>
              <a:rPr lang="en-IN" sz="1200" err="1"/>
              <a:t>B.Tech</a:t>
            </a:r>
            <a:r>
              <a:rPr lang="en-IN" sz="1200"/>
              <a:t> AI &amp; ML', 4, 102);</a:t>
            </a:r>
          </a:p>
          <a:p>
            <a:r>
              <a:rPr lang="en-IN" sz="1200"/>
              <a:t>INSERT INTO Course VALUES (303, '</a:t>
            </a:r>
            <a:r>
              <a:rPr lang="en-IN" sz="1200" err="1"/>
              <a:t>B.Tech</a:t>
            </a:r>
            <a:r>
              <a:rPr lang="en-IN" sz="1200"/>
              <a:t> ECE', 4, 103);</a:t>
            </a:r>
          </a:p>
          <a:p>
            <a:r>
              <a:rPr lang="en-IN" sz="1200" b="1">
                <a:solidFill>
                  <a:schemeClr val="accent2"/>
                </a:solidFill>
              </a:rPr>
              <a:t>-- 4. STUDENT</a:t>
            </a:r>
          </a:p>
          <a:p>
            <a:r>
              <a:rPr lang="en-IN" sz="1200"/>
              <a:t>INSERT INTO Student VALUES (401, 'Rahul', '2005-05-15', 'Male', 'rahul@gmail.com', '9000000001', 'Kakinada', 301);</a:t>
            </a:r>
          </a:p>
          <a:p>
            <a:r>
              <a:rPr lang="en-IN" sz="1200"/>
              <a:t>INSERT INTO Student VALUES (402, 'Sneha', '2006-02-20', 'Female', 'sneha@gmail.com', '9000000002', 'Rajahmundry', 302);</a:t>
            </a:r>
          </a:p>
          <a:p>
            <a:r>
              <a:rPr lang="en-IN" sz="1200"/>
              <a:t>INSERT INTO Student VALUES (403, 'Arjun', '2005-12-10', 'Male', 'arjun@gmail.com', '9000000003', '</a:t>
            </a:r>
            <a:r>
              <a:rPr lang="en-IN" sz="1200" err="1"/>
              <a:t>Amalapuram</a:t>
            </a:r>
            <a:r>
              <a:rPr lang="en-IN" sz="1200"/>
              <a:t>', 301);</a:t>
            </a:r>
          </a:p>
          <a:p>
            <a:r>
              <a:rPr lang="en-IN" sz="1200"/>
              <a:t>INSERT INTO Student VALUES (404, 'Priya', '2006-03-25', 'Female', 'priya@gmail.com', '9000000004', 'Vizag', 303);</a:t>
            </a:r>
          </a:p>
          <a:p>
            <a:r>
              <a:rPr lang="en-IN" sz="1200"/>
              <a:t>INSERT INTO Student VALUES (405, 'Kavya', '2006-07-12', 'Female', 'kavya@gmail.com', '9000000005', 'Kakinada', 302);</a:t>
            </a:r>
          </a:p>
          <a:p>
            <a:r>
              <a:rPr lang="en-IN" sz="1200" b="1">
                <a:solidFill>
                  <a:schemeClr val="accent2"/>
                </a:solidFill>
              </a:rPr>
              <a:t>-- 5. SUBJECT</a:t>
            </a:r>
          </a:p>
          <a:p>
            <a:r>
              <a:rPr lang="en-IN" sz="1200"/>
              <a:t>INSERT INTO Subject VALUES (501, 'Database Management Systems', 4, 3, 301, 201);</a:t>
            </a:r>
          </a:p>
          <a:p>
            <a:r>
              <a:rPr lang="en-IN" sz="1200"/>
              <a:t>INSERT INTO Subject VALUES (502, 'Python Programming', 4, 3, 302, 203);</a:t>
            </a:r>
          </a:p>
          <a:p>
            <a:r>
              <a:rPr lang="en-IN" sz="1200"/>
              <a:t>INSERT INTO Subject VALUES (503, 'Data Structures', 4, 3, 301, 202);</a:t>
            </a:r>
          </a:p>
          <a:p>
            <a:r>
              <a:rPr lang="en-IN" sz="1200"/>
              <a:t>INSERT INTO Subject VALUES (504, 'Digital Electronics', 3, 3, 303, 204);</a:t>
            </a:r>
          </a:p>
          <a:p>
            <a:r>
              <a:rPr lang="en-IN" sz="1200"/>
              <a:t>INSERT INTO Subject VALUES (505, 'Artificial Intelligence', 4, 3, 302, 203);</a:t>
            </a:r>
          </a:p>
          <a:p>
            <a:endParaRPr lang="en-IN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0226CD-ADBC-1A70-EAD3-7F5E613FD5D1}"/>
              </a:ext>
            </a:extLst>
          </p:cNvPr>
          <p:cNvSpPr txBox="1"/>
          <p:nvPr/>
        </p:nvSpPr>
        <p:spPr>
          <a:xfrm>
            <a:off x="7141658" y="744104"/>
            <a:ext cx="5050342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 sz="1200" b="1">
                <a:solidFill>
                  <a:schemeClr val="accent2"/>
                </a:solidFill>
              </a:rPr>
              <a:t>-- 6. ENROLLMENT</a:t>
            </a:r>
          </a:p>
          <a:p>
            <a:r>
              <a:rPr lang="en-IN" sz="1200"/>
              <a:t>INSERT INTO </a:t>
            </a:r>
            <a:r>
              <a:rPr lang="en-IN" sz="1200" err="1"/>
              <a:t>Enrollment</a:t>
            </a:r>
            <a:r>
              <a:rPr lang="en-IN" sz="1200"/>
              <a:t> VALUES (601, 401, 301, '2026-07-01');</a:t>
            </a:r>
          </a:p>
          <a:p>
            <a:r>
              <a:rPr lang="en-IN" sz="1200"/>
              <a:t>INSERT INTO </a:t>
            </a:r>
            <a:r>
              <a:rPr lang="en-IN" sz="1200" err="1"/>
              <a:t>Enrollment</a:t>
            </a:r>
            <a:r>
              <a:rPr lang="en-IN" sz="1200"/>
              <a:t> VALUES (602, 402, 302, '2026-07-02');</a:t>
            </a:r>
          </a:p>
          <a:p>
            <a:r>
              <a:rPr lang="en-IN" sz="1200"/>
              <a:t>INSERT INTO </a:t>
            </a:r>
            <a:r>
              <a:rPr lang="en-IN" sz="1200" err="1"/>
              <a:t>Enrollment</a:t>
            </a:r>
            <a:r>
              <a:rPr lang="en-IN" sz="1200"/>
              <a:t> VALUES (603, 403, 301, '2026-07-01');</a:t>
            </a:r>
          </a:p>
          <a:p>
            <a:r>
              <a:rPr lang="en-IN" sz="1200"/>
              <a:t>INSERT INTO </a:t>
            </a:r>
            <a:r>
              <a:rPr lang="en-IN" sz="1200" err="1"/>
              <a:t>Enrollment</a:t>
            </a:r>
            <a:r>
              <a:rPr lang="en-IN" sz="1200"/>
              <a:t> VALUES (604, 404, 303, '2026-07-03');</a:t>
            </a:r>
          </a:p>
          <a:p>
            <a:r>
              <a:rPr lang="en-IN" sz="1200"/>
              <a:t>INSERT INTO </a:t>
            </a:r>
            <a:r>
              <a:rPr lang="en-IN" sz="1200" err="1"/>
              <a:t>Enrollment</a:t>
            </a:r>
            <a:r>
              <a:rPr lang="en-IN" sz="1200"/>
              <a:t> VALUES (605, 405, 302, '2026-07-02');</a:t>
            </a:r>
          </a:p>
          <a:p>
            <a:endParaRPr lang="en-IN" sz="1200"/>
          </a:p>
          <a:p>
            <a:r>
              <a:rPr lang="en-IN" sz="1200" b="1">
                <a:solidFill>
                  <a:schemeClr val="accent2"/>
                </a:solidFill>
              </a:rPr>
              <a:t>-- 7. EXAMINATION</a:t>
            </a:r>
          </a:p>
          <a:p>
            <a:r>
              <a:rPr lang="en-IN" sz="1200"/>
              <a:t>INSERT INTO Examination VALUES (701, 401, 501, 'Mid term', '2026-08-10', 100);</a:t>
            </a:r>
          </a:p>
          <a:p>
            <a:r>
              <a:rPr lang="en-IN" sz="1200"/>
              <a:t>INSERT INTO Examination VALUES (702, 402, 502, 'Mid term', '2026-08-11', 100);</a:t>
            </a:r>
          </a:p>
          <a:p>
            <a:r>
              <a:rPr lang="en-IN" sz="1200"/>
              <a:t>INSERT INTO Examination VALUES (703, 403, 503, 'Mid term', '2026-08-12', 100);</a:t>
            </a:r>
          </a:p>
          <a:p>
            <a:r>
              <a:rPr lang="en-IN" sz="1200"/>
              <a:t>INSERT INTO Examination VALUES (704, 404, 504, 'Mid term', '2026-08-13', 100);</a:t>
            </a:r>
          </a:p>
          <a:p>
            <a:r>
              <a:rPr lang="en-IN" sz="1200"/>
              <a:t>INSERT INTO Examination VALUES (705, 405, 505, 'Mid term', '2026-08-14', 100);</a:t>
            </a:r>
          </a:p>
          <a:p>
            <a:endParaRPr lang="en-IN" sz="1200"/>
          </a:p>
          <a:p>
            <a:r>
              <a:rPr lang="en-IN" sz="1200" b="1">
                <a:solidFill>
                  <a:schemeClr val="accent2"/>
                </a:solidFill>
              </a:rPr>
              <a:t>-- 8. ATTENDANCE</a:t>
            </a:r>
          </a:p>
          <a:p>
            <a:r>
              <a:rPr lang="en-IN" sz="1200"/>
              <a:t>INSERT INTO Attendance VALUES (801, 401, 501, '2026-08-20', 'Present');</a:t>
            </a:r>
          </a:p>
          <a:p>
            <a:r>
              <a:rPr lang="en-IN" sz="1200"/>
              <a:t>INSERT INTO Attendance VALUES (802, 402, 502, '2026-08-20', 'Present');</a:t>
            </a:r>
          </a:p>
          <a:p>
            <a:r>
              <a:rPr lang="en-IN" sz="1200"/>
              <a:t>INSERT INTO Attendance VALUES (803, 403, 503, '2026-08-20', 'Absent');</a:t>
            </a:r>
          </a:p>
          <a:p>
            <a:r>
              <a:rPr lang="en-IN" sz="1200"/>
              <a:t>INSERT INTO Attendance VALUES (804, 401, 503, '2026-08-21', 'Present');</a:t>
            </a:r>
          </a:p>
          <a:p>
            <a:r>
              <a:rPr lang="en-IN" sz="1200"/>
              <a:t>INSERT INTO Attendance VALUES (805, 402, 501, '2026-08-21', 'Present');</a:t>
            </a:r>
          </a:p>
        </p:txBody>
      </p:sp>
    </p:spTree>
    <p:extLst>
      <p:ext uri="{BB962C8B-B14F-4D97-AF65-F5344CB8AC3E}">
        <p14:creationId xmlns:p14="http://schemas.microsoft.com/office/powerpoint/2010/main" val="2169581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5551741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4011706" y="75008"/>
            <a:ext cx="4503445" cy="1057333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4482353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25507" y="1484671"/>
            <a:ext cx="435684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DDL – Data Definition Language</a:t>
            </a:r>
          </a:p>
          <a:p>
            <a:endParaRPr 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DDL is used to create or modify the structure of the database.</a:t>
            </a:r>
          </a:p>
          <a:p>
            <a:endParaRPr 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sz="1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Test_Table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Test_ID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Test_Name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VARCHAR(50) NOT NULL</a:t>
            </a: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(Add a new column)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sz="1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Test_Table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ADD </a:t>
            </a:r>
            <a:r>
              <a:rPr lang="en-US" sz="1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Test_Date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DATE;</a:t>
            </a:r>
          </a:p>
          <a:p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-- DROP TABLE (Remove the temporary table)</a:t>
            </a: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DROP TABLE </a:t>
            </a:r>
            <a:r>
              <a:rPr lang="en-US" sz="1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Test_Table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3914CD-A22C-405C-CCE3-BF1A1AC2231D}"/>
              </a:ext>
            </a:extLst>
          </p:cNvPr>
          <p:cNvSpPr txBox="1"/>
          <p:nvPr/>
        </p:nvSpPr>
        <p:spPr>
          <a:xfrm>
            <a:off x="4240963" y="1563550"/>
            <a:ext cx="4298856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/>
              <a:t>2. DML – Data Manipulation Language</a:t>
            </a:r>
          </a:p>
          <a:p>
            <a:endParaRPr lang="en-IN" sz="1500" b="1"/>
          </a:p>
          <a:p>
            <a:r>
              <a:rPr lang="en-IN" sz="1500"/>
              <a:t>DML is used to insert, update, and delete data from tables.</a:t>
            </a:r>
          </a:p>
          <a:p>
            <a:endParaRPr lang="en-IN" sz="15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/>
              <a:t> INSERT </a:t>
            </a:r>
            <a:r>
              <a:rPr lang="en-IN" sz="1500"/>
              <a:t>(Add a new department record)</a:t>
            </a:r>
          </a:p>
          <a:p>
            <a:r>
              <a:rPr lang="en-IN" sz="1500"/>
              <a:t>INSERT INTO Department VALUES (104, 'Mechanical', 'Dr. Kumar', 'Block D’);</a:t>
            </a:r>
          </a:p>
          <a:p>
            <a:endParaRPr lang="en-IN" sz="15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/>
              <a:t>UPDATE </a:t>
            </a:r>
            <a:r>
              <a:rPr lang="en-IN" sz="1500"/>
              <a:t>(Update the HOD name)</a:t>
            </a:r>
          </a:p>
          <a:p>
            <a:r>
              <a:rPr lang="en-IN" sz="1500"/>
              <a:t>UPDATE Department </a:t>
            </a:r>
          </a:p>
          <a:p>
            <a:r>
              <a:rPr lang="en-IN" sz="1500"/>
              <a:t>SET </a:t>
            </a:r>
            <a:r>
              <a:rPr lang="en-IN" sz="1500" err="1"/>
              <a:t>HOD_Name</a:t>
            </a:r>
            <a:r>
              <a:rPr lang="en-IN" sz="1500"/>
              <a:t> = 'Dr. Anil Kumar' </a:t>
            </a:r>
          </a:p>
          <a:p>
            <a:r>
              <a:rPr lang="en-IN" sz="1500"/>
              <a:t>WHERE </a:t>
            </a:r>
            <a:r>
              <a:rPr lang="en-IN" sz="1500" err="1"/>
              <a:t>Department_ID</a:t>
            </a:r>
            <a:r>
              <a:rPr lang="en-IN" sz="1500"/>
              <a:t> = 104;</a:t>
            </a:r>
          </a:p>
          <a:p>
            <a:endParaRPr lang="en-IN" sz="15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/>
              <a:t> DELETE </a:t>
            </a:r>
            <a:r>
              <a:rPr lang="en-IN" sz="1500"/>
              <a:t>(Delete the record)</a:t>
            </a:r>
          </a:p>
          <a:p>
            <a:r>
              <a:rPr lang="en-IN" sz="1500"/>
              <a:t>DELETE FROM Department </a:t>
            </a:r>
          </a:p>
          <a:p>
            <a:r>
              <a:rPr lang="en-IN" sz="1500"/>
              <a:t>WHERE </a:t>
            </a:r>
            <a:r>
              <a:rPr lang="en-IN" sz="1500" err="1"/>
              <a:t>Department_ID</a:t>
            </a:r>
            <a:r>
              <a:rPr lang="en-IN" sz="1500"/>
              <a:t> = 104;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BD292E-FC1C-D12F-20AE-7250ABE8EDBE}"/>
              </a:ext>
            </a:extLst>
          </p:cNvPr>
          <p:cNvSpPr txBox="1"/>
          <p:nvPr/>
        </p:nvSpPr>
        <p:spPr>
          <a:xfrm>
            <a:off x="8298427" y="1484671"/>
            <a:ext cx="397223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/>
              <a:t>3. DQL – Data Query Language</a:t>
            </a:r>
          </a:p>
          <a:p>
            <a:endParaRPr lang="en-US" sz="1500" b="1"/>
          </a:p>
          <a:p>
            <a:r>
              <a:rPr lang="en-US" sz="1500"/>
              <a:t>DQL is used to retrieve data from the database.</a:t>
            </a:r>
          </a:p>
          <a:p>
            <a:endParaRPr lang="en-US" sz="15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/>
              <a:t>-- Display all students</a:t>
            </a:r>
          </a:p>
          <a:p>
            <a:r>
              <a:rPr lang="en-US" sz="1500"/>
              <a:t>SELECT * FROM Student;</a:t>
            </a:r>
          </a:p>
          <a:p>
            <a:endParaRPr lang="en-US" sz="15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/>
              <a:t>-- Display subjects</a:t>
            </a:r>
          </a:p>
          <a:p>
            <a:r>
              <a:rPr lang="en-US" sz="1500"/>
              <a:t>SELECT </a:t>
            </a:r>
            <a:r>
              <a:rPr lang="en-US" sz="1500" err="1"/>
              <a:t>Subject_Name</a:t>
            </a:r>
            <a:r>
              <a:rPr lang="en-US" sz="1500"/>
              <a:t> FROM Subject;</a:t>
            </a:r>
          </a:p>
          <a:p>
            <a:endParaRPr lang="en-US" sz="150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/>
              <a:t>-- Display present attendance</a:t>
            </a:r>
          </a:p>
          <a:p>
            <a:r>
              <a:rPr lang="en-US" sz="1500"/>
              <a:t>SELECT * </a:t>
            </a:r>
          </a:p>
          <a:p>
            <a:r>
              <a:rPr lang="en-US" sz="1500"/>
              <a:t>FROM Attendance </a:t>
            </a:r>
          </a:p>
          <a:p>
            <a:r>
              <a:rPr lang="en-US" sz="1500"/>
              <a:t>WHERE Status = 'Present';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b="1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/>
              <a:t>-- Display examinations</a:t>
            </a:r>
          </a:p>
          <a:p>
            <a:r>
              <a:rPr lang="en-US" sz="1500"/>
              <a:t>SELECT </a:t>
            </a:r>
            <a:r>
              <a:rPr lang="en-US" sz="1500" err="1"/>
              <a:t>Subject_ID</a:t>
            </a:r>
            <a:r>
              <a:rPr lang="en-US" sz="1500"/>
              <a:t>, </a:t>
            </a:r>
            <a:r>
              <a:rPr lang="en-US" sz="1500" err="1"/>
              <a:t>Exam_Type</a:t>
            </a:r>
            <a:r>
              <a:rPr lang="en-US" sz="1500"/>
              <a:t>, </a:t>
            </a:r>
            <a:r>
              <a:rPr lang="en-US" sz="1500" err="1"/>
              <a:t>Exam_Date</a:t>
            </a:r>
            <a:r>
              <a:rPr lang="en-US" sz="1500"/>
              <a:t>, </a:t>
            </a:r>
            <a:r>
              <a:rPr lang="en-US" sz="1500" err="1"/>
              <a:t>Total_Marks</a:t>
            </a:r>
            <a:r>
              <a:rPr lang="en-US" sz="1500"/>
              <a:t> </a:t>
            </a:r>
          </a:p>
          <a:p>
            <a:r>
              <a:rPr lang="en-US" sz="1500"/>
              <a:t>FROM Examination;</a:t>
            </a:r>
          </a:p>
        </p:txBody>
      </p:sp>
    </p:spTree>
    <p:extLst>
      <p:ext uri="{BB962C8B-B14F-4D97-AF65-F5344CB8AC3E}">
        <p14:creationId xmlns:p14="http://schemas.microsoft.com/office/powerpoint/2010/main" val="3217507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5551741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4011706" y="75008"/>
            <a:ext cx="4503445" cy="1057333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4482353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275304" y="681931"/>
            <a:ext cx="33316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1. CRUD Operations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CRUD means Create, Read, Update, Delete.</a:t>
            </a:r>
          </a:p>
          <a:p>
            <a:r>
              <a:rPr lang="en-IN" sz="1200" u="sng">
                <a:latin typeface="Times New Roman" panose="02020603050405020304" pitchFamily="18" charset="0"/>
                <a:cs typeface="Times New Roman" panose="02020603050405020304" pitchFamily="18" charset="0"/>
              </a:rPr>
              <a:t>C — Create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Add a new student: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(406, 'Ravi',  '2006-03-15', 'Male',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'ravi@gmail.com', '9000000006', 'Kakinada', 301);</a:t>
            </a:r>
          </a:p>
          <a:p>
            <a:r>
              <a:rPr lang="en-IN" sz="1200" u="sng">
                <a:latin typeface="Times New Roman" panose="02020603050405020304" pitchFamily="18" charset="0"/>
                <a:cs typeface="Times New Roman" panose="02020603050405020304" pitchFamily="18" charset="0"/>
              </a:rPr>
              <a:t>R — Read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student: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WHERE Student_ID = 406;</a:t>
            </a:r>
          </a:p>
          <a:p>
            <a:r>
              <a:rPr lang="en-IN" sz="1200" u="sng">
                <a:latin typeface="Times New Roman" panose="02020603050405020304" pitchFamily="18" charset="0"/>
                <a:cs typeface="Times New Roman" panose="02020603050405020304" pitchFamily="18" charset="0"/>
              </a:rPr>
              <a:t>U — Update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Update the student's address: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UPDATE Student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SET Address = 'Rajahmundry'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WHERE Student_ID = 406;</a:t>
            </a:r>
          </a:p>
          <a:p>
            <a:r>
              <a:rPr lang="en-IN" sz="1200" u="sng">
                <a:latin typeface="Times New Roman" panose="02020603050405020304" pitchFamily="18" charset="0"/>
                <a:cs typeface="Times New Roman" panose="02020603050405020304" pitchFamily="18" charset="0"/>
              </a:rPr>
              <a:t>D — Delete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Delete the student: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Student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WHERE Student_ID = 406;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4ECFB-6D5F-494B-0692-E9769589678C}"/>
              </a:ext>
            </a:extLst>
          </p:cNvPr>
          <p:cNvSpPr txBox="1"/>
          <p:nvPr/>
        </p:nvSpPr>
        <p:spPr>
          <a:xfrm>
            <a:off x="3655512" y="744104"/>
            <a:ext cx="404582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2. JOINS</a:t>
            </a:r>
          </a:p>
          <a:p>
            <a:r>
              <a:rPr lang="en-US" sz="1200"/>
              <a:t>INNER JOIN — Student and Course</a:t>
            </a:r>
          </a:p>
          <a:p>
            <a:r>
              <a:rPr lang="en-US" sz="1200"/>
              <a:t>SELECT </a:t>
            </a:r>
            <a:r>
              <a:rPr lang="en-US" sz="1200" err="1"/>
              <a:t>Student_Name</a:t>
            </a:r>
            <a:r>
              <a:rPr lang="en-US" sz="1200"/>
              <a:t>, </a:t>
            </a:r>
            <a:r>
              <a:rPr lang="en-US" sz="1200" err="1"/>
              <a:t>Course_Name</a:t>
            </a:r>
            <a:endParaRPr lang="en-US" sz="1200"/>
          </a:p>
          <a:p>
            <a:r>
              <a:rPr lang="en-US" sz="1200"/>
              <a:t>FROM Student</a:t>
            </a:r>
          </a:p>
          <a:p>
            <a:r>
              <a:rPr lang="en-US" sz="1200"/>
              <a:t>JOIN Course</a:t>
            </a:r>
          </a:p>
          <a:p>
            <a:r>
              <a:rPr lang="en-US" sz="1200"/>
              <a:t>ON </a:t>
            </a:r>
            <a:r>
              <a:rPr lang="en-US" sz="1200" err="1"/>
              <a:t>Student.Course_ID</a:t>
            </a:r>
            <a:r>
              <a:rPr lang="en-US" sz="1200"/>
              <a:t> = </a:t>
            </a:r>
            <a:r>
              <a:rPr lang="en-US" sz="1200" err="1"/>
              <a:t>Course.Course_ID</a:t>
            </a:r>
            <a:r>
              <a:rPr lang="en-US" sz="1200"/>
              <a:t>;</a:t>
            </a:r>
          </a:p>
          <a:p>
            <a:r>
              <a:rPr lang="en-US" sz="1200"/>
              <a:t>Purpose: Displays each student's course.</a:t>
            </a:r>
          </a:p>
          <a:p>
            <a:r>
              <a:rPr lang="en-US" sz="1200"/>
              <a:t>JOIN — Subject and Faculty</a:t>
            </a:r>
          </a:p>
          <a:p>
            <a:r>
              <a:rPr lang="en-US" sz="1200"/>
              <a:t>SELECT </a:t>
            </a:r>
            <a:r>
              <a:rPr lang="en-US" sz="1200" err="1"/>
              <a:t>Subject_Name</a:t>
            </a:r>
            <a:r>
              <a:rPr lang="en-US" sz="1200"/>
              <a:t>, </a:t>
            </a:r>
            <a:r>
              <a:rPr lang="en-US" sz="1200" err="1"/>
              <a:t>Faculty_Name</a:t>
            </a:r>
            <a:endParaRPr lang="en-US" sz="1200"/>
          </a:p>
          <a:p>
            <a:r>
              <a:rPr lang="en-US" sz="1200"/>
              <a:t>FROM Subject</a:t>
            </a:r>
          </a:p>
          <a:p>
            <a:r>
              <a:rPr lang="en-US" sz="1200"/>
              <a:t>JOIN Faculty</a:t>
            </a:r>
          </a:p>
          <a:p>
            <a:r>
              <a:rPr lang="en-US" sz="1200"/>
              <a:t>ON </a:t>
            </a:r>
            <a:r>
              <a:rPr lang="en-US" sz="1200" err="1"/>
              <a:t>Subject.Faculty_ID</a:t>
            </a:r>
            <a:r>
              <a:rPr lang="en-US" sz="1200"/>
              <a:t> = </a:t>
            </a:r>
            <a:r>
              <a:rPr lang="en-US" sz="1200" err="1"/>
              <a:t>Faculty.Faculty_ID</a:t>
            </a:r>
            <a:r>
              <a:rPr lang="en-US" sz="1200"/>
              <a:t>;</a:t>
            </a:r>
          </a:p>
          <a:p>
            <a:r>
              <a:rPr lang="en-US" sz="1200"/>
              <a:t>Purpose: Displays which faculty teaches each subject.</a:t>
            </a:r>
          </a:p>
          <a:p>
            <a:r>
              <a:rPr lang="en-US" sz="1200"/>
              <a:t>JOIN — Department and Course</a:t>
            </a:r>
          </a:p>
          <a:p>
            <a:r>
              <a:rPr lang="en-US" sz="1200"/>
              <a:t>SELECT </a:t>
            </a:r>
            <a:r>
              <a:rPr lang="en-US" sz="1200" err="1"/>
              <a:t>Department_Name</a:t>
            </a:r>
            <a:r>
              <a:rPr lang="en-US" sz="1200"/>
              <a:t>, </a:t>
            </a:r>
            <a:r>
              <a:rPr lang="en-US" sz="1200" err="1"/>
              <a:t>Course_Name</a:t>
            </a:r>
            <a:endParaRPr lang="en-US" sz="1200"/>
          </a:p>
          <a:p>
            <a:r>
              <a:rPr lang="en-US" sz="1200"/>
              <a:t>FROM Department</a:t>
            </a:r>
          </a:p>
          <a:p>
            <a:r>
              <a:rPr lang="en-US" sz="1200"/>
              <a:t>JOIN Course</a:t>
            </a:r>
          </a:p>
          <a:p>
            <a:r>
              <a:rPr lang="en-US" sz="1200"/>
              <a:t>ON </a:t>
            </a:r>
            <a:r>
              <a:rPr lang="en-US" sz="1200" err="1"/>
              <a:t>Department.Department_ID</a:t>
            </a:r>
            <a:r>
              <a:rPr lang="en-US" sz="1200"/>
              <a:t> = </a:t>
            </a:r>
            <a:r>
              <a:rPr lang="en-US" sz="1200" err="1"/>
              <a:t>Course.Department_ID</a:t>
            </a:r>
            <a:r>
              <a:rPr lang="en-US" sz="1200"/>
              <a:t>;</a:t>
            </a:r>
          </a:p>
          <a:p>
            <a:r>
              <a:rPr lang="en-US" sz="1200"/>
              <a:t>Purpose: Displays courses offered by each department.</a:t>
            </a:r>
            <a:endParaRPr lang="en-IN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1F272-0886-9C90-6863-0BDC66D6361A}"/>
              </a:ext>
            </a:extLst>
          </p:cNvPr>
          <p:cNvSpPr txBox="1"/>
          <p:nvPr/>
        </p:nvSpPr>
        <p:spPr>
          <a:xfrm>
            <a:off x="7865806" y="814517"/>
            <a:ext cx="48225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3. Aggregate Functions</a:t>
            </a:r>
          </a:p>
          <a:p>
            <a:r>
              <a:rPr lang="en-US" sz="1200"/>
              <a:t>Aggregate functions perform calculations on multiple records.</a:t>
            </a:r>
          </a:p>
          <a:p>
            <a:endParaRPr lang="en-US" sz="1200"/>
          </a:p>
          <a:p>
            <a:r>
              <a:rPr lang="en-US" sz="1200" u="sng"/>
              <a:t>COUNT</a:t>
            </a:r>
          </a:p>
          <a:p>
            <a:r>
              <a:rPr lang="en-US" sz="1200"/>
              <a:t>Count total students:</a:t>
            </a:r>
          </a:p>
          <a:p>
            <a:r>
              <a:rPr lang="en-US" sz="1200"/>
              <a:t>SELECT COUNT(*) AS </a:t>
            </a:r>
            <a:r>
              <a:rPr lang="en-US" sz="1200" err="1"/>
              <a:t>Total_Students</a:t>
            </a:r>
            <a:endParaRPr lang="en-US" sz="1200"/>
          </a:p>
          <a:p>
            <a:r>
              <a:rPr lang="en-US" sz="1200"/>
              <a:t>FROM Student;</a:t>
            </a:r>
          </a:p>
          <a:p>
            <a:r>
              <a:rPr lang="en-US" sz="1200"/>
              <a:t>COUNT with GROUP BY</a:t>
            </a:r>
          </a:p>
          <a:p>
            <a:endParaRPr lang="en-US" sz="1200"/>
          </a:p>
          <a:p>
            <a:r>
              <a:rPr lang="en-US" sz="1200"/>
              <a:t>Number of students in each course:</a:t>
            </a:r>
          </a:p>
          <a:p>
            <a:r>
              <a:rPr lang="en-US" sz="1200"/>
              <a:t>SELECT </a:t>
            </a:r>
            <a:r>
              <a:rPr lang="en-US" sz="1200" err="1"/>
              <a:t>Course_ID</a:t>
            </a:r>
            <a:r>
              <a:rPr lang="en-US" sz="1200"/>
              <a:t>, COUNT(*) AS </a:t>
            </a:r>
            <a:r>
              <a:rPr lang="en-US" sz="1200" err="1"/>
              <a:t>Student_Count</a:t>
            </a:r>
            <a:endParaRPr lang="en-US" sz="1200"/>
          </a:p>
          <a:p>
            <a:r>
              <a:rPr lang="en-US" sz="1200"/>
              <a:t>FROM Student</a:t>
            </a:r>
          </a:p>
          <a:p>
            <a:r>
              <a:rPr lang="en-US" sz="1200"/>
              <a:t>GROUP BY </a:t>
            </a:r>
            <a:r>
              <a:rPr lang="en-US" sz="1200" err="1"/>
              <a:t>Course_ID</a:t>
            </a:r>
            <a:r>
              <a:rPr lang="en-US" sz="1200"/>
              <a:t>;</a:t>
            </a:r>
          </a:p>
          <a:p>
            <a:r>
              <a:rPr lang="en-US" sz="1200"/>
              <a:t>COUNT Subjects</a:t>
            </a:r>
          </a:p>
          <a:p>
            <a:r>
              <a:rPr lang="en-US" sz="1200"/>
              <a:t>SELECT </a:t>
            </a:r>
            <a:r>
              <a:rPr lang="en-US" sz="1200" err="1"/>
              <a:t>Faculty_ID</a:t>
            </a:r>
            <a:r>
              <a:rPr lang="en-US" sz="1200"/>
              <a:t>, COUNT(*) AS </a:t>
            </a:r>
            <a:r>
              <a:rPr lang="en-US" sz="1200" err="1"/>
              <a:t>Subject_Count</a:t>
            </a:r>
            <a:endParaRPr lang="en-US" sz="1200"/>
          </a:p>
          <a:p>
            <a:r>
              <a:rPr lang="en-US" sz="1200"/>
              <a:t>FROM Subject</a:t>
            </a:r>
          </a:p>
          <a:p>
            <a:r>
              <a:rPr lang="en-US" sz="1200"/>
              <a:t>GROUP BY </a:t>
            </a:r>
            <a:r>
              <a:rPr lang="en-US" sz="1200" err="1"/>
              <a:t>Faculty_ID</a:t>
            </a:r>
            <a:r>
              <a:rPr lang="en-US" sz="1200"/>
              <a:t>;</a:t>
            </a:r>
          </a:p>
          <a:p>
            <a:endParaRPr lang="en-US" sz="1200"/>
          </a:p>
          <a:p>
            <a:r>
              <a:rPr lang="en-US" sz="1200" u="sng"/>
              <a:t>MAX</a:t>
            </a:r>
          </a:p>
          <a:p>
            <a:r>
              <a:rPr lang="en-US" sz="1200"/>
              <a:t>Find the highest total marks:</a:t>
            </a:r>
          </a:p>
          <a:p>
            <a:r>
              <a:rPr lang="en-US" sz="1200"/>
              <a:t>SELECT MAX(</a:t>
            </a:r>
            <a:r>
              <a:rPr lang="en-US" sz="1200" err="1"/>
              <a:t>Total_Marks</a:t>
            </a:r>
            <a:r>
              <a:rPr lang="en-US" sz="1200"/>
              <a:t>) AS </a:t>
            </a:r>
            <a:r>
              <a:rPr lang="en-US" sz="1200" err="1"/>
              <a:t>Highest_Marks</a:t>
            </a:r>
            <a:endParaRPr lang="en-US" sz="1200"/>
          </a:p>
          <a:p>
            <a:r>
              <a:rPr lang="en-US" sz="1200"/>
              <a:t>FROM Examination;</a:t>
            </a:r>
          </a:p>
          <a:p>
            <a:endParaRPr lang="en-US" sz="1200"/>
          </a:p>
          <a:p>
            <a:r>
              <a:rPr lang="en-US" sz="1200" u="sng"/>
              <a:t>MIN</a:t>
            </a:r>
          </a:p>
          <a:p>
            <a:r>
              <a:rPr lang="en-US" sz="1200"/>
              <a:t>SELECT MIN(</a:t>
            </a:r>
            <a:r>
              <a:rPr lang="en-US" sz="1200" err="1"/>
              <a:t>Total_Marks</a:t>
            </a:r>
            <a:r>
              <a:rPr lang="en-US" sz="1200"/>
              <a:t>) AS </a:t>
            </a:r>
            <a:r>
              <a:rPr lang="en-US" sz="1200" err="1"/>
              <a:t>Lowest_Marks</a:t>
            </a:r>
            <a:endParaRPr lang="en-US" sz="1200"/>
          </a:p>
          <a:p>
            <a:r>
              <a:rPr lang="en-US" sz="1200"/>
              <a:t>FROM Examination;</a:t>
            </a:r>
          </a:p>
          <a:p>
            <a:endParaRPr lang="en-US" sz="1200"/>
          </a:p>
          <a:p>
            <a:r>
              <a:rPr lang="en-US" sz="1200" u="sng"/>
              <a:t>AVG</a:t>
            </a:r>
          </a:p>
          <a:p>
            <a:r>
              <a:rPr lang="en-US" sz="1200"/>
              <a:t>SELECT AVG(</a:t>
            </a:r>
            <a:r>
              <a:rPr lang="en-US" sz="1200" err="1"/>
              <a:t>Total_Marks</a:t>
            </a:r>
            <a:r>
              <a:rPr lang="en-US" sz="1200"/>
              <a:t>) AS </a:t>
            </a:r>
            <a:r>
              <a:rPr lang="en-US" sz="1200" err="1"/>
              <a:t>Average_Marks</a:t>
            </a:r>
            <a:endParaRPr lang="en-US" sz="1200"/>
          </a:p>
          <a:p>
            <a:r>
              <a:rPr lang="en-US" sz="1200"/>
              <a:t>FROM Examination;</a:t>
            </a:r>
            <a:endParaRPr lang="en-IN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13AAA0-09DB-1843-8A33-D687B3B23067}"/>
              </a:ext>
            </a:extLst>
          </p:cNvPr>
          <p:cNvSpPr txBox="1"/>
          <p:nvPr/>
        </p:nvSpPr>
        <p:spPr>
          <a:xfrm>
            <a:off x="285742" y="4664506"/>
            <a:ext cx="3214542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/>
              <a:t>4. VIEW</a:t>
            </a:r>
          </a:p>
          <a:p>
            <a:r>
              <a:rPr lang="en-US" sz="1200" u="sng"/>
              <a:t>Create View</a:t>
            </a:r>
            <a:endParaRPr lang="en-US" u="sng"/>
          </a:p>
          <a:p>
            <a:r>
              <a:rPr lang="en-US" sz="1200"/>
              <a:t>CREATE VIEW Student_Course_View AS</a:t>
            </a:r>
          </a:p>
          <a:p>
            <a:r>
              <a:rPr lang="en-US" sz="1200"/>
              <a:t>SELECT Student_Name, Course_Name</a:t>
            </a:r>
          </a:p>
          <a:p>
            <a:r>
              <a:rPr lang="en-US" sz="1200"/>
              <a:t>FROM Student</a:t>
            </a:r>
          </a:p>
          <a:p>
            <a:r>
              <a:rPr lang="en-US" sz="1200"/>
              <a:t>JOIN Course</a:t>
            </a:r>
          </a:p>
          <a:p>
            <a:r>
              <a:rPr lang="en-US" sz="1200"/>
              <a:t>ON Student.Course_ID = Course.Course_ID;</a:t>
            </a:r>
          </a:p>
          <a:p>
            <a:r>
              <a:rPr lang="en-US" sz="1200" u="sng"/>
              <a:t>Display the View</a:t>
            </a:r>
          </a:p>
          <a:p>
            <a:r>
              <a:rPr lang="en-US" sz="1200"/>
              <a:t>SELECT * FROM Student_Course_View;</a:t>
            </a:r>
          </a:p>
          <a:p>
            <a:r>
              <a:rPr lang="en-US" sz="1200" u="sng"/>
              <a:t>Delete the View</a:t>
            </a:r>
          </a:p>
          <a:p>
            <a:r>
              <a:rPr lang="en-US" sz="1200"/>
              <a:t>DROP VIEW Student_Course_View;</a:t>
            </a:r>
            <a:endParaRPr lang="en-IN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2315B7-91B6-E117-F99A-B6DB8B89E43A}"/>
              </a:ext>
            </a:extLst>
          </p:cNvPr>
          <p:cNvSpPr txBox="1"/>
          <p:nvPr/>
        </p:nvSpPr>
        <p:spPr>
          <a:xfrm>
            <a:off x="3664752" y="4379804"/>
            <a:ext cx="3965080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/>
              <a:t>5. Other Important SQL Queries</a:t>
            </a:r>
          </a:p>
          <a:p>
            <a:r>
              <a:rPr lang="en-US" sz="1200" u="sng"/>
              <a:t>WHERE</a:t>
            </a:r>
          </a:p>
          <a:p>
            <a:r>
              <a:rPr lang="en-US" sz="1200"/>
              <a:t>Find female students:</a:t>
            </a:r>
          </a:p>
          <a:p>
            <a:r>
              <a:rPr lang="en-US" sz="1200"/>
              <a:t>SELECT * FROM Student</a:t>
            </a:r>
          </a:p>
          <a:p>
            <a:r>
              <a:rPr lang="en-US" sz="1200"/>
              <a:t>WHERE Gender = 'Female';</a:t>
            </a:r>
          </a:p>
          <a:p>
            <a:r>
              <a:rPr lang="en-US" sz="1200" u="sng"/>
              <a:t>ORDER BY</a:t>
            </a:r>
          </a:p>
          <a:p>
            <a:r>
              <a:rPr lang="en-US" sz="1200"/>
              <a:t>Display students alphabetically:</a:t>
            </a:r>
          </a:p>
          <a:p>
            <a:r>
              <a:rPr lang="en-US" sz="1200"/>
              <a:t>SELECT * FROM Student</a:t>
            </a:r>
          </a:p>
          <a:p>
            <a:r>
              <a:rPr lang="en-US" sz="1200"/>
              <a:t>ORDER BY Student_Name;</a:t>
            </a:r>
          </a:p>
          <a:p>
            <a:r>
              <a:rPr lang="en-US" sz="1200" u="sng"/>
              <a:t>DISTINCT</a:t>
            </a:r>
          </a:p>
          <a:p>
            <a:r>
              <a:rPr lang="en-US" sz="1200"/>
              <a:t>Display unique course IDs:</a:t>
            </a:r>
          </a:p>
          <a:p>
            <a:r>
              <a:rPr lang="en-US" sz="1200"/>
              <a:t>SELECT DISTINCT Course_ID</a:t>
            </a:r>
          </a:p>
          <a:p>
            <a:r>
              <a:rPr lang="en-US" sz="1200"/>
              <a:t>FROM Student;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886679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5551741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4011706" y="75008"/>
            <a:ext cx="4503445" cy="1057333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4482353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2460442" y="1241014"/>
            <a:ext cx="7264101" cy="49398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IN" sz="2100">
                <a:ea typeface="+mn-lt"/>
                <a:cs typeface="+mn-lt"/>
              </a:rPr>
              <a:t>All 8 tables are connected using Primary Keys (PK) and Foreign Keys (FK).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IN" sz="2100">
                <a:ea typeface="+mn-lt"/>
                <a:cs typeface="+mn-lt"/>
              </a:rPr>
              <a:t>Primary Key constraints ensure that IDs are unique and not duplicated.</a:t>
            </a:r>
            <a:endParaRPr lang="en-IN"/>
          </a:p>
          <a:p>
            <a:pPr marL="342900" indent="-342900">
              <a:buFont typeface="Arial"/>
              <a:buChar char="•"/>
            </a:pPr>
            <a:r>
              <a:rPr lang="en-IN" sz="2100">
                <a:ea typeface="+mn-lt"/>
                <a:cs typeface="+mn-lt"/>
              </a:rPr>
              <a:t>Foreign Key constraints ensure valid relationships between tables.</a:t>
            </a:r>
            <a:endParaRPr lang="en-IN"/>
          </a:p>
          <a:p>
            <a:pPr marL="342900" indent="-342900">
              <a:buFont typeface="Arial"/>
              <a:buChar char="•"/>
            </a:pPr>
            <a:r>
              <a:rPr lang="en-IN" sz="2100">
                <a:ea typeface="+mn-lt"/>
                <a:cs typeface="+mn-lt"/>
              </a:rPr>
              <a:t>NOT NULL constraints prevent missing important values.</a:t>
            </a:r>
            <a:endParaRPr lang="en-IN"/>
          </a:p>
          <a:p>
            <a:pPr marL="342900" indent="-342900">
              <a:buFont typeface="Arial"/>
              <a:buChar char="•"/>
            </a:pPr>
            <a:r>
              <a:rPr lang="en-IN" sz="2100">
                <a:ea typeface="+mn-lt"/>
                <a:cs typeface="+mn-lt"/>
              </a:rPr>
              <a:t>UNIQUE constraints prevent duplicate values such as email IDs.</a:t>
            </a:r>
            <a:endParaRPr lang="en-IN"/>
          </a:p>
          <a:p>
            <a:pPr marL="342900" indent="-342900">
              <a:buFont typeface="Arial"/>
              <a:buChar char="•"/>
            </a:pPr>
            <a:r>
              <a:rPr lang="en-IN" sz="2100">
                <a:ea typeface="+mn-lt"/>
                <a:cs typeface="+mn-lt"/>
              </a:rPr>
              <a:t>CHECK constraints ensure valid values for fields like gender, credits, semester, and attendance status.</a:t>
            </a:r>
            <a:endParaRPr lang="en-IN"/>
          </a:p>
          <a:p>
            <a:pPr marL="342900" indent="-342900">
              <a:buFont typeface="Arial"/>
              <a:buChar char="•"/>
            </a:pPr>
            <a:r>
              <a:rPr lang="en-IN" sz="2100">
                <a:ea typeface="+mn-lt"/>
                <a:cs typeface="+mn-lt"/>
              </a:rPr>
              <a:t>DEFAULT values are used where appropriate to avoid missing data.</a:t>
            </a:r>
            <a:endParaRPr lang="en-IN"/>
          </a:p>
          <a:p>
            <a:pPr marL="342900" indent="-342900">
              <a:buFont typeface="Arial"/>
              <a:buChar char="•"/>
            </a:pPr>
            <a:r>
              <a:rPr lang="en-IN" sz="2100">
                <a:ea typeface="+mn-lt"/>
                <a:cs typeface="+mn-lt"/>
              </a:rPr>
              <a:t>These constraints maintain data accuracy, consistency, and integrity throughout the database.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632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5551741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4011706" y="75008"/>
            <a:ext cx="4503445" cy="1057333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4482353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405FB7-2F79-DBC3-8780-E5C0E94BAF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967"/>
            <a:ext cx="4011706" cy="50558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4BEA00-A488-863B-E2B6-13A00D20CE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1403" y="1306186"/>
            <a:ext cx="3825905" cy="50558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D7F6D6-E765-84EA-D22E-D651D4B6B4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7005" y="1306186"/>
            <a:ext cx="3974995" cy="502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05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5551741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4011706" y="75008"/>
            <a:ext cx="4503445" cy="1057333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4482353" y="283522"/>
            <a:ext cx="4437529" cy="357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21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20ED36-5524-3B94-22F6-08A1D1893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10" y="1523477"/>
            <a:ext cx="4693920" cy="42043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1EA104-69E5-7FEA-19D4-C0DE29EB64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4092" y="1524112"/>
            <a:ext cx="471678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85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2428105" y="1723643"/>
            <a:ext cx="8084231" cy="33239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100">
                <a:ea typeface="+mn-lt"/>
                <a:cs typeface="+mn-lt"/>
              </a:rPr>
              <a:t>The Academic Management System provides a centralized database for managing academic information.</a:t>
            </a:r>
            <a:endParaRPr lang="en-IN">
              <a:ea typeface="+mn-lt"/>
              <a:cs typeface="+mn-lt"/>
            </a:endParaRPr>
          </a:p>
          <a:p>
            <a:r>
              <a:rPr lang="en-IN" sz="2100">
                <a:ea typeface="+mn-lt"/>
                <a:cs typeface="+mn-lt"/>
              </a:rPr>
              <a:t>It efficiently manages students, faculty, departments, courses, subjects, </a:t>
            </a:r>
            <a:r>
              <a:rPr lang="en-IN" sz="2100" err="1">
                <a:ea typeface="+mn-lt"/>
                <a:cs typeface="+mn-lt"/>
              </a:rPr>
              <a:t>enrollment</a:t>
            </a:r>
            <a:r>
              <a:rPr lang="en-IN" sz="2100">
                <a:ea typeface="+mn-lt"/>
                <a:cs typeface="+mn-lt"/>
              </a:rPr>
              <a:t>, examinations, and attendance.</a:t>
            </a:r>
            <a:endParaRPr lang="en-IN">
              <a:ea typeface="+mn-lt"/>
              <a:cs typeface="+mn-lt"/>
            </a:endParaRPr>
          </a:p>
          <a:p>
            <a:r>
              <a:rPr lang="en-IN" sz="2100">
                <a:ea typeface="+mn-lt"/>
                <a:cs typeface="+mn-lt"/>
              </a:rPr>
              <a:t>SQL operations such as CRUD, joins, aggregate functions, and views help retrieve and manage data effectively.</a:t>
            </a:r>
            <a:endParaRPr lang="en-IN">
              <a:ea typeface="+mn-lt"/>
              <a:cs typeface="+mn-lt"/>
            </a:endParaRPr>
          </a:p>
          <a:p>
            <a:r>
              <a:rPr lang="en-IN" sz="2100">
                <a:ea typeface="+mn-lt"/>
                <a:cs typeface="+mn-lt"/>
              </a:rPr>
              <a:t>Constraints and validation maintain data accuracy, consistency, and integrity.</a:t>
            </a:r>
            <a:endParaRPr lang="en-IN">
              <a:ea typeface="+mn-lt"/>
              <a:cs typeface="+mn-lt"/>
            </a:endParaRPr>
          </a:p>
          <a:p>
            <a:r>
              <a:rPr lang="en-IN" sz="2100">
                <a:ea typeface="+mn-lt"/>
                <a:cs typeface="+mn-lt"/>
              </a:rPr>
              <a:t>The system reduces manual work and makes academic data easy to store, access, and manage.</a:t>
            </a:r>
            <a:endParaRPr lang="en-IN">
              <a:ea typeface="+mn-lt"/>
              <a:cs typeface="+mn-lt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3844278" y="134471"/>
            <a:ext cx="4503445" cy="1057333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39578" y="386493"/>
            <a:ext cx="1912844" cy="279526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5"/>
              </a:spcBef>
            </a:pPr>
            <a:r>
              <a:rPr lang="en-IN" sz="172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3" y="2990917"/>
            <a:ext cx="3563471" cy="586635"/>
          </a:xfrm>
        </p:spPr>
        <p:txBody>
          <a:bodyPr/>
          <a:lstStyle/>
          <a:p>
            <a:r>
              <a:rPr lang="en-IN" sz="4236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015" y="180274"/>
            <a:ext cx="1026178" cy="37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2882</Words>
  <Application>Microsoft Office PowerPoint</Application>
  <PresentationFormat>Widescreen</PresentationFormat>
  <Paragraphs>434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Cambria</vt:lpstr>
      <vt:lpstr>Palatino Linotype</vt:lpstr>
      <vt:lpstr>Times New Roman</vt:lpstr>
      <vt:lpstr>Wingdings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Cornerstone Project Final Review (Review I &amp; II)</dc:title>
  <dc:creator>PERAM THANUSREE</dc:creator>
  <cp:lastModifiedBy>*** AMMU ***</cp:lastModifiedBy>
  <cp:revision>6</cp:revision>
  <dcterms:created xsi:type="dcterms:W3CDTF">2026-09-14T16:39:33Z</dcterms:created>
  <dcterms:modified xsi:type="dcterms:W3CDTF">2026-10-04T08:44:03Z</dcterms:modified>
</cp:coreProperties>
</file>